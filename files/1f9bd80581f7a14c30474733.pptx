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77" r:id="rId4"/>
    <p:sldId id="278" r:id="rId5"/>
    <p:sldId id="279" r:id="rId6"/>
    <p:sldId id="280" r:id="rId7"/>
    <p:sldId id="276" r:id="rId8"/>
    <p:sldId id="258" r:id="rId9"/>
    <p:sldId id="259" r:id="rId10"/>
    <p:sldId id="260" r:id="rId11"/>
    <p:sldId id="261" r:id="rId12"/>
    <p:sldId id="283" r:id="rId13"/>
    <p:sldId id="293" r:id="rId14"/>
    <p:sldId id="294" r:id="rId15"/>
    <p:sldId id="284" r:id="rId16"/>
    <p:sldId id="281" r:id="rId17"/>
    <p:sldId id="285" r:id="rId18"/>
    <p:sldId id="262" r:id="rId19"/>
    <p:sldId id="286" r:id="rId20"/>
    <p:sldId id="263" r:id="rId21"/>
    <p:sldId id="282" r:id="rId22"/>
    <p:sldId id="288" r:id="rId23"/>
    <p:sldId id="289" r:id="rId24"/>
    <p:sldId id="290" r:id="rId25"/>
    <p:sldId id="287" r:id="rId26"/>
    <p:sldId id="291" r:id="rId27"/>
    <p:sldId id="292" r:id="rId28"/>
    <p:sldId id="264" r:id="rId29"/>
    <p:sldId id="265" r:id="rId30"/>
    <p:sldId id="267" r:id="rId31"/>
    <p:sldId id="268" r:id="rId32"/>
    <p:sldId id="269" r:id="rId33"/>
    <p:sldId id="270" r:id="rId34"/>
    <p:sldId id="271" r:id="rId35"/>
    <p:sldId id="272" r:id="rId36"/>
    <p:sldId id="273" r:id="rId37"/>
    <p:sldId id="274" r:id="rId38"/>
    <p:sldId id="275" r:id="rId3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7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CCA62-737C-4C0C-8187-BCCA494C5923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0247BF-69AA-4529-A951-6781A9F2792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7299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системах для операционной системы </a:t>
            </a:r>
            <a:r>
              <a:rPr lang="ru-RU" dirty="0" err="1" smtClean="0"/>
              <a:t>Windows</a:t>
            </a:r>
            <a:r>
              <a:rPr lang="ru-RU" dirty="0" smtClean="0"/>
              <a:t> изменились, в основном, возможности оформления документов, которые достаточны для размещения расчетных таблиц и диаграмм в деловых документах, научных отчетах, статьях.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4289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системах для операционной системы </a:t>
            </a:r>
            <a:r>
              <a:rPr lang="ru-RU" dirty="0" err="1" smtClean="0"/>
              <a:t>Windows</a:t>
            </a:r>
            <a:r>
              <a:rPr lang="ru-RU" dirty="0" smtClean="0"/>
              <a:t> изменились, в основном, возможности оформления документов, которые достаточны для размещения расчетных таблиц и диаграмм в деловых документах, научных отчетах, статьях.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78388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системах для операционной системы </a:t>
            </a:r>
            <a:r>
              <a:rPr lang="ru-RU" dirty="0" err="1" smtClean="0"/>
              <a:t>Windows</a:t>
            </a:r>
            <a:r>
              <a:rPr lang="ru-RU" dirty="0" smtClean="0"/>
              <a:t> изменились, в основном, возможности оформления документов, которые достаточны для размещения расчетных таблиц и диаграмм в деловых документах, научных отчетах, статьях.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3864813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системах для операционной системы </a:t>
            </a:r>
            <a:r>
              <a:rPr lang="ru-RU" dirty="0" err="1" smtClean="0"/>
              <a:t>Windows</a:t>
            </a:r>
            <a:r>
              <a:rPr lang="ru-RU" dirty="0" smtClean="0"/>
              <a:t> изменились, в основном, возможности оформления документов, которые достаточны для размещения расчетных таблиц и диаграмм в деловых документах, научных отчетах, статьях.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83808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системах для операционной системы </a:t>
            </a:r>
            <a:r>
              <a:rPr lang="ru-RU" dirty="0" err="1" smtClean="0"/>
              <a:t>Windows</a:t>
            </a:r>
            <a:r>
              <a:rPr lang="ru-RU" dirty="0" smtClean="0"/>
              <a:t> изменились, в основном, возможности оформления документов, которые достаточны для размещения расчетных таблиц и диаграмм в деловых документах, научных отчетах, статьях.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10106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системах для операционной системы </a:t>
            </a:r>
            <a:r>
              <a:rPr lang="ru-RU" dirty="0" err="1" smtClean="0"/>
              <a:t>Windows</a:t>
            </a:r>
            <a:r>
              <a:rPr lang="ru-RU" dirty="0" smtClean="0"/>
              <a:t> изменились, в основном, возможности оформления документов, которые достаточны для размещения расчетных таблиц и диаграмм в деловых документах, научных отчетах, статьях.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36785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рисунках выше продемонстрировано несколько принципиально важных моментов работы в электронной таблице: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28610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рисунках выше продемонстрировано несколько принципиально важных моментов работы в электронной таблице: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6585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рисунках выше продемонстрировано несколько принципиально важных моментов работы в электронной таблице: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469796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рисунках выше продемонстрировано несколько принципиально важных моментов работы в электронной таблице: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0477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рисунках выше продемонстрировано несколько принципиально важных моментов работы в электронной таблице: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757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рисунках выше продемонстрировано несколько принципиально важных моментов работы в электронной таблице: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3592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На рисунках выше продемонстрировано несколько принципиально важных моментов работы в электронной таблице: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558524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 smtClean="0"/>
              <a:t>В этом же примере показано использование двух матричных функций: вычисление обратной матрицы МОБР(M3:O5) и умножение матриц МУМНОЖ(M8:O10;K3:K5). Особенность этих функций – результат вычисления имеет вид матриц (в первом случае двухмерная, во втором – вектор). Матричная функция записывается в одну клетку, затем решение разворачивается на группу клеток, с использованием сочетания клавиш CTRL+SHIFT+ENTER.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0247BF-69AA-4529-A951-6781A9F27922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38323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64223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131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08602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35358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89201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14874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963519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4234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6120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61392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5111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7EE615-8A05-48DF-811E-8914A0C870B7}" type="datetimeFigureOut">
              <a:rPr lang="ru-RU" smtClean="0"/>
              <a:t>24.10.2024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EDF95A-D34C-4DFB-AC69-CC1C1F41415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28156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819326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EXCEL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2744333"/>
          </a:xfrm>
        </p:spPr>
        <p:txBody>
          <a:bodyPr>
            <a:normAutofit/>
          </a:bodyPr>
          <a:lstStyle/>
          <a:p>
            <a:r>
              <a:rPr lang="ru-RU" dirty="0"/>
              <a:t>Принципы организации вычислений во всех электронных таблицах примерно одинаковы (начиная с первых, таких систем для MS DOS </a:t>
            </a:r>
            <a:r>
              <a:rPr lang="ru-RU" dirty="0" err="1" smtClean="0"/>
              <a:t>SuperCalc</a:t>
            </a:r>
            <a:r>
              <a:rPr lang="ru-RU" dirty="0" smtClean="0"/>
              <a:t> </a:t>
            </a:r>
            <a:r>
              <a:rPr lang="ru-RU" dirty="0"/>
              <a:t>и </a:t>
            </a:r>
            <a:r>
              <a:rPr lang="ru-RU" dirty="0" err="1"/>
              <a:t>Lotus</a:t>
            </a:r>
            <a:r>
              <a:rPr lang="ru-RU" dirty="0"/>
              <a:t> 1-2-3). </a:t>
            </a:r>
          </a:p>
        </p:txBody>
      </p:sp>
    </p:spTree>
    <p:extLst>
      <p:ext uri="{BB962C8B-B14F-4D97-AF65-F5344CB8AC3E}">
        <p14:creationId xmlns:p14="http://schemas.microsoft.com/office/powerpoint/2010/main" val="167628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0"/>
            <a:ext cx="9144000" cy="6085113"/>
          </a:xfrm>
        </p:spPr>
        <p:txBody>
          <a:bodyPr>
            <a:normAutofit/>
          </a:bodyPr>
          <a:lstStyle/>
          <a:p>
            <a:r>
              <a:rPr lang="ru-RU" dirty="0" smtClean="0"/>
              <a:t>Основным элементом электронной таблицы является ячейка (или клетка) таблицы. В каждую ячейку может быть помещена информация различного типа:</a:t>
            </a:r>
            <a:endParaRPr lang="en-US" dirty="0" smtClean="0"/>
          </a:p>
          <a:p>
            <a:endParaRPr lang="ru-RU" dirty="0" smtClean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7127631"/>
              </p:ext>
            </p:extLst>
          </p:nvPr>
        </p:nvGraphicFramePr>
        <p:xfrm>
          <a:off x="474453" y="1129423"/>
          <a:ext cx="10722633" cy="541871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3714"/>
                <a:gridCol w="1608336"/>
                <a:gridCol w="6690583"/>
              </a:tblGrid>
              <a:tr h="571500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Общий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1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smtClean="0">
                          <a:effectLst/>
                        </a:rPr>
                        <a:t>Максимальное </a:t>
                      </a:r>
                      <a:r>
                        <a:rPr lang="ru-RU" sz="2400" dirty="0">
                          <a:effectLst/>
                        </a:rPr>
                        <a:t>количество отображаемых в ячейке десятичных цифр рано 11. Если количество цифр больше 11, то </a:t>
                      </a:r>
                      <a:r>
                        <a:rPr lang="ru-RU" sz="2400" dirty="0" err="1" smtClean="0">
                          <a:effectLst/>
                        </a:rPr>
                        <a:t>Ex</a:t>
                      </a:r>
                      <a:r>
                        <a:rPr lang="en-US" sz="2400" dirty="0" smtClean="0">
                          <a:effectLst/>
                        </a:rPr>
                        <a:t>c</a:t>
                      </a:r>
                      <a:r>
                        <a:rPr lang="ru-RU" sz="2400" dirty="0" err="1" smtClean="0">
                          <a:effectLst/>
                        </a:rPr>
                        <a:t>el</a:t>
                      </a:r>
                      <a:r>
                        <a:rPr lang="ru-RU" sz="2400" dirty="0" smtClean="0">
                          <a:effectLst/>
                        </a:rPr>
                        <a:t> </a:t>
                      </a:r>
                      <a:r>
                        <a:rPr lang="ru-RU" sz="2400" dirty="0">
                          <a:effectLst/>
                        </a:rPr>
                        <a:t>автоматически представляет его в экспоненциальной форме.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952500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Числовой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1,00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Это общий способ представления чисел, позволяющий указать количество отображаемых десятичных знаков после запятой, применение разделителя групп разрядов (класс единиц, тысяч, миллионов и т.д.) и способ отображения отрицательных чисел (со знаком «минус», красным цветом или красным цветом со знаком «минус»). 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628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0"/>
            <a:ext cx="9144000" cy="6085113"/>
          </a:xfrm>
        </p:spPr>
        <p:txBody>
          <a:bodyPr>
            <a:normAutofit/>
          </a:bodyPr>
          <a:lstStyle/>
          <a:p>
            <a:r>
              <a:rPr lang="ru-RU" dirty="0" smtClean="0"/>
              <a:t>Основным элементом электронной таблицы является ячейка (или клетка) таблицы. В каждую ячейку может быть помещена информация различного типа:</a:t>
            </a:r>
            <a:endParaRPr lang="en-US" dirty="0" smtClean="0"/>
          </a:p>
          <a:p>
            <a:endParaRPr lang="ru-RU" dirty="0" smtClean="0"/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7906706"/>
              </p:ext>
            </p:extLst>
          </p:nvPr>
        </p:nvGraphicFramePr>
        <p:xfrm>
          <a:off x="370935" y="1719023"/>
          <a:ext cx="11714673" cy="41986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7952"/>
                <a:gridCol w="1757136"/>
                <a:gridCol w="7309585"/>
              </a:tblGrid>
              <a:tr h="2332609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Денежный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1,00 ₽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Используется для отображения денежных значений со знаком денежной единицы. Можно задать количество знаков после запятой, применение разделителя групп разрядов и способ отображения отрицательных чисел. 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866088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Финансовый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 $ 1,00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Как и денежный формат используется для отображения денежных значений. Отличие состоит в способах выравнивания, отображении нулевого и отрицательных значений. 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8589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0"/>
            <a:ext cx="9144000" cy="6085113"/>
          </a:xfrm>
        </p:spPr>
        <p:txBody>
          <a:bodyPr>
            <a:normAutofit/>
          </a:bodyPr>
          <a:lstStyle/>
          <a:p>
            <a:r>
              <a:rPr lang="ru-RU" dirty="0" smtClean="0"/>
              <a:t>Основным элементом электронной таблицы является ячейка (или клетка) таблицы. В каждую ячейку может быть помещена информация различного типа:</a:t>
            </a:r>
            <a:endParaRPr lang="en-US" dirty="0" smtClean="0"/>
          </a:p>
          <a:p>
            <a:endParaRPr lang="ru-RU" dirty="0" smtClean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32693"/>
              </p:ext>
            </p:extLst>
          </p:nvPr>
        </p:nvGraphicFramePr>
        <p:xfrm>
          <a:off x="258792" y="1043795"/>
          <a:ext cx="11706045" cy="58393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46002"/>
                <a:gridCol w="1755843"/>
                <a:gridCol w="7304200"/>
              </a:tblGrid>
              <a:tr h="3320553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Дата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01.01.1900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 err="1">
                          <a:effectLst/>
                        </a:rPr>
                        <a:t>Excel</a:t>
                      </a:r>
                      <a:r>
                        <a:rPr lang="ru-RU" sz="2400" dirty="0">
                          <a:effectLst/>
                        </a:rPr>
                        <a:t> представляет и обрабатывает даты и время как десятичные числа. Каждой дате из диапазона 1 января 1900 по 31 декабря 9999 ставится в соответствие десятичное число от 1 до 2 958 495. Даты до 1 января 1900 года воспринимаются как строка текста. </a:t>
                      </a:r>
                      <a:r>
                        <a:rPr lang="ru-RU" sz="2400" dirty="0" smtClean="0">
                          <a:effectLst/>
                        </a:rPr>
                        <a:t>При </a:t>
                      </a:r>
                      <a:r>
                        <a:rPr lang="ru-RU" sz="2400" dirty="0">
                          <a:effectLst/>
                        </a:rPr>
                        <a:t>вводе в ячейку даты в качестве разделителя между днем, месяцем и годом можно использовать точку «.», дефис «-» или слеш «/».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484276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Время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0:00:00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Время в </a:t>
                      </a:r>
                      <a:r>
                        <a:rPr lang="ru-RU" sz="2400" dirty="0" err="1">
                          <a:effectLst/>
                        </a:rPr>
                        <a:t>Excel</a:t>
                      </a:r>
                      <a:r>
                        <a:rPr lang="ru-RU" sz="2400" dirty="0">
                          <a:effectLst/>
                        </a:rPr>
                        <a:t> хранится как дробная часть дня. Например, время 9 часов 1 января 1900 года соответствует значению 1,375, полдень — 1,5, 15 часов 15 — 1,625, 21 час — 1,875. При вводе в ячейку времени в качестве разделителя между часами, минутами и секундами используется двоеточие «:». 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7535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0"/>
            <a:ext cx="9144000" cy="6085113"/>
          </a:xfrm>
        </p:spPr>
        <p:txBody>
          <a:bodyPr>
            <a:normAutofit/>
          </a:bodyPr>
          <a:lstStyle/>
          <a:p>
            <a:r>
              <a:rPr lang="ru-RU" dirty="0" smtClean="0"/>
              <a:t>Основным элементом электронной таблицы является ячейка (или клетка) таблицы. В каждую ячейку может быть помещена информация различного типа:</a:t>
            </a:r>
            <a:endParaRPr lang="en-US" dirty="0" smtClean="0"/>
          </a:p>
          <a:p>
            <a:endParaRPr lang="ru-RU" dirty="0" smtClean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2949543"/>
              </p:ext>
            </p:extLst>
          </p:nvPr>
        </p:nvGraphicFramePr>
        <p:xfrm>
          <a:off x="293297" y="1509623"/>
          <a:ext cx="11585276" cy="281874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18703"/>
                <a:gridCol w="1737728"/>
                <a:gridCol w="7228845"/>
              </a:tblGrid>
              <a:tr h="675406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Процентный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100,00%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Число в этом формате умножается на 100 и выводится со знаком процента.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2002193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Дробный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  1/4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Значение в этом формате выводится в виде обыкновенной дроби. Целая часть от дробной отделяется пробелом, дробная часть строится с помощью символа косой черты – слеша «/».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903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0"/>
            <a:ext cx="9144000" cy="6085113"/>
          </a:xfrm>
        </p:spPr>
        <p:txBody>
          <a:bodyPr>
            <a:normAutofit/>
          </a:bodyPr>
          <a:lstStyle/>
          <a:p>
            <a:r>
              <a:rPr lang="ru-RU" dirty="0" smtClean="0"/>
              <a:t>Основным элементом электронной таблицы является ячейка (или клетка) таблицы. В каждую ячейку может быть помещена информация различного типа:</a:t>
            </a:r>
            <a:endParaRPr lang="en-US" dirty="0" smtClean="0"/>
          </a:p>
          <a:p>
            <a:endParaRPr lang="ru-RU" dirty="0" smtClean="0"/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4432230"/>
              </p:ext>
            </p:extLst>
          </p:nvPr>
        </p:nvGraphicFramePr>
        <p:xfrm>
          <a:off x="457202" y="1268084"/>
          <a:ext cx="11473130" cy="462686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93354"/>
                <a:gridCol w="1720906"/>
                <a:gridCol w="7158870"/>
              </a:tblGrid>
              <a:tr h="210088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Экспоненциальный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1,00E+00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В этом формате число всегда отображается с буквой E. Значение в данном формате представляется в виде мантиссы и порядка в виде mE±n, где m – целое число или десятичная дробь со знаком (мантисса), умноженное на 10 в степени n, n – целое число (порядок). Например, число 5,17E-3 есть 5,17 × 10 –3. Порядок n всегда такой, что 1≤|m|&lt;10. 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  <a:tr h="1135879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Текстовый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1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Текстовые данные по умолчанию выравниваются по левому краю ячейки. Длина текста, помещенного в ячейку, не может превышать 32767 символов.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89588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261257"/>
            <a:ext cx="9144000" cy="6085113"/>
          </a:xfrm>
        </p:spPr>
        <p:txBody>
          <a:bodyPr>
            <a:normAutofit/>
          </a:bodyPr>
          <a:lstStyle/>
          <a:p>
            <a:r>
              <a:rPr lang="ru-RU" dirty="0" smtClean="0"/>
              <a:t>Основным элементом электронной таблицы является ячейка (или клетка) таблицы. В каждую ячейку может быть помещена информация различного типа:</a:t>
            </a:r>
            <a:endParaRPr lang="en-US" dirty="0" smtClean="0"/>
          </a:p>
          <a:p>
            <a:endParaRPr lang="ru-RU" dirty="0" smtClean="0"/>
          </a:p>
          <a:p>
            <a:r>
              <a:rPr lang="ru-RU" dirty="0" smtClean="0"/>
              <a:t>– текстовая длиной до 32767 символов;</a:t>
            </a:r>
            <a:endParaRPr lang="en-US" dirty="0" smtClean="0"/>
          </a:p>
          <a:p>
            <a:endParaRPr lang="ru-RU" dirty="0" smtClean="0"/>
          </a:p>
          <a:p>
            <a:r>
              <a:rPr lang="ru-RU" dirty="0" smtClean="0"/>
              <a:t>Для отображения в ячейках числовой информации, даты и времени могут быть заданы различные форматы (на ленте</a:t>
            </a:r>
            <a:r>
              <a:rPr lang="ru-RU" b="1" dirty="0" smtClean="0"/>
              <a:t> Главная </a:t>
            </a:r>
            <a:r>
              <a:rPr lang="ru-RU" dirty="0" smtClean="0"/>
              <a:t>группа </a:t>
            </a:r>
            <a:r>
              <a:rPr lang="ru-RU" b="1" dirty="0" smtClean="0"/>
              <a:t>Число</a:t>
            </a:r>
            <a:r>
              <a:rPr lang="ru-RU" dirty="0" smtClean="0"/>
              <a:t> или в Excel до 2007 меню </a:t>
            </a:r>
            <a:r>
              <a:rPr lang="ru-RU" b="1" dirty="0" smtClean="0"/>
              <a:t>Формат ► Ячейки…, </a:t>
            </a:r>
            <a:r>
              <a:rPr lang="ru-RU" dirty="0" smtClean="0"/>
              <a:t>вкладка окна </a:t>
            </a:r>
            <a:r>
              <a:rPr lang="ru-RU" b="1" dirty="0" smtClean="0"/>
              <a:t>Число</a:t>
            </a:r>
            <a:r>
              <a:rPr lang="ru-RU" dirty="0" smtClean="0"/>
              <a:t>). Для форматирования ячейки можно также воспользоваться мини-панелью инструментов, которая появляется вместе с контекстным меню при щелчке правой кнопкой мыши на ячейке таблицы.</a:t>
            </a:r>
          </a:p>
        </p:txBody>
      </p:sp>
    </p:spTree>
    <p:extLst>
      <p:ext uri="{BB962C8B-B14F-4D97-AF65-F5344CB8AC3E}">
        <p14:creationId xmlns:p14="http://schemas.microsoft.com/office/powerpoint/2010/main" val="2742914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2716" y="361544"/>
            <a:ext cx="4908883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Ячейка электронной таблицы по умолчанию имеет стиль Обычный (лента Главная, группа Стили или в Excel до 2007 меню </a:t>
            </a:r>
            <a:r>
              <a:rPr lang="ru-RU" sz="2400" b="1" dirty="0"/>
              <a:t>Формат ► Стиль…</a:t>
            </a:r>
            <a:r>
              <a:rPr lang="ru-RU" sz="2400" dirty="0"/>
              <a:t>), который после инсталляции системы имеет параметры, представленные на </a:t>
            </a:r>
            <a:r>
              <a:rPr lang="ru-RU" sz="2400" dirty="0" smtClean="0"/>
              <a:t>рисунке. </a:t>
            </a:r>
            <a:r>
              <a:rPr lang="ru-RU" sz="2400" dirty="0"/>
              <a:t>Параметры стиля Обычный можно изменить, тогда все ячейки таблицы этого стиля будут иметь новые свойства. Можно создать новый стиль, если для ячейки задать новые свойства (лента </a:t>
            </a:r>
            <a:r>
              <a:rPr lang="ru-RU" sz="2400" b="1" dirty="0"/>
              <a:t>Главная</a:t>
            </a:r>
            <a:r>
              <a:rPr lang="ru-RU" sz="2400" dirty="0"/>
              <a:t> или до версии 2007 меню </a:t>
            </a:r>
            <a:r>
              <a:rPr lang="ru-RU" sz="2400" b="1" dirty="0"/>
              <a:t>Формат ► Ячейки</a:t>
            </a:r>
            <a:r>
              <a:rPr lang="ru-RU" sz="2400" dirty="0"/>
              <a:t>…), а затем в окне </a:t>
            </a:r>
            <a:r>
              <a:rPr lang="ru-RU" sz="2400" b="1" dirty="0"/>
              <a:t>Стиль</a:t>
            </a:r>
            <a:r>
              <a:rPr lang="ru-RU" sz="2400" dirty="0"/>
              <a:t> задать Имя стиля и нажать кнопку ОК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3494" y="361544"/>
            <a:ext cx="5823285" cy="5124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822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65222" y="0"/>
            <a:ext cx="1172677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Каждая ячейка электронной таблицы имеет свой адрес, который используется при на-писании формул (ссылки на ячейки). Наиболее часто используется стиль ссылок с обозначением столбцов латинскими буквами и строк – числами, например, A1 или AB32, </a:t>
            </a:r>
            <a:endParaRPr lang="ru-RU" sz="24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958" y="1941095"/>
            <a:ext cx="9047747" cy="4331368"/>
          </a:xfrm>
          <a:prstGeom prst="rect">
            <a:avLst/>
          </a:prstGeom>
        </p:spPr>
      </p:pic>
      <p:sp>
        <p:nvSpPr>
          <p:cNvPr id="5" name="Скругленная прямоугольная выноска 4"/>
          <p:cNvSpPr/>
          <p:nvPr/>
        </p:nvSpPr>
        <p:spPr>
          <a:xfrm>
            <a:off x="2037347" y="5197642"/>
            <a:ext cx="2053390" cy="657726"/>
          </a:xfrm>
          <a:prstGeom prst="wedgeRoundRectCallout">
            <a:avLst>
              <a:gd name="adj1" fmla="val 67078"/>
              <a:gd name="adj2" fmla="val -239939"/>
              <a:gd name="adj3" fmla="val 16667"/>
            </a:avLst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=D4+$B$6</a:t>
            </a:r>
            <a:endParaRPr lang="ru-RU" sz="2400" dirty="0"/>
          </a:p>
        </p:txBody>
      </p:sp>
      <p:sp>
        <p:nvSpPr>
          <p:cNvPr id="6" name="Блок-схема: альтернативный процесс 5"/>
          <p:cNvSpPr/>
          <p:nvPr/>
        </p:nvSpPr>
        <p:spPr>
          <a:xfrm>
            <a:off x="4588042" y="4283241"/>
            <a:ext cx="3112169" cy="786063"/>
          </a:xfrm>
          <a:prstGeom prst="flowChartAlternate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chemeClr val="bg1"/>
                </a:solidFill>
              </a:rPr>
              <a:t>Стиль ссылок </a:t>
            </a:r>
            <a:r>
              <a:rPr lang="en-US" sz="2400" dirty="0">
                <a:solidFill>
                  <a:schemeClr val="bg1"/>
                </a:solidFill>
              </a:rPr>
              <a:t>A1</a:t>
            </a:r>
            <a:endParaRPr lang="ru-RU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4074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33137" y="434279"/>
            <a:ext cx="1137385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однако стиль можно изменить (кнопка </a:t>
            </a:r>
            <a:r>
              <a:rPr lang="ru-RU" sz="2400" b="1" dirty="0"/>
              <a:t>Office</a:t>
            </a:r>
            <a:r>
              <a:rPr lang="ru-RU" sz="2400" dirty="0"/>
              <a:t> ► </a:t>
            </a:r>
            <a:r>
              <a:rPr lang="ru-RU" sz="2400" b="1" dirty="0"/>
              <a:t>Параметры</a:t>
            </a:r>
            <a:r>
              <a:rPr lang="ru-RU" sz="2400" dirty="0"/>
              <a:t> Excel, </a:t>
            </a:r>
            <a:r>
              <a:rPr lang="ru-RU" sz="2400" dirty="0" smtClean="0"/>
              <a:t>на </a:t>
            </a:r>
            <a:r>
              <a:rPr lang="ru-RU" sz="2400" dirty="0"/>
              <a:t>обозначение столбцов и колонок числами. Ссылки предыдущего примера будут выглядеть, как R1C1 и R32C28, здесь R – </a:t>
            </a:r>
            <a:r>
              <a:rPr lang="ru-RU" sz="2400" dirty="0" err="1"/>
              <a:t>row</a:t>
            </a:r>
            <a:r>
              <a:rPr lang="ru-RU" sz="2400" dirty="0"/>
              <a:t> (ряд), C – </a:t>
            </a:r>
            <a:r>
              <a:rPr lang="ru-RU" sz="2400" dirty="0" err="1"/>
              <a:t>column</a:t>
            </a:r>
            <a:r>
              <a:rPr lang="ru-RU" sz="2400" dirty="0"/>
              <a:t> (колонка).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7958" y="2003939"/>
            <a:ext cx="8839199" cy="4365844"/>
          </a:xfrm>
          <a:prstGeom prst="rect">
            <a:avLst/>
          </a:prstGeom>
        </p:spPr>
      </p:pic>
      <p:sp>
        <p:nvSpPr>
          <p:cNvPr id="4" name="Скругленная прямоугольная выноска 3"/>
          <p:cNvSpPr/>
          <p:nvPr/>
        </p:nvSpPr>
        <p:spPr>
          <a:xfrm>
            <a:off x="577516" y="5261811"/>
            <a:ext cx="3080084" cy="753978"/>
          </a:xfrm>
          <a:prstGeom prst="wedgeRoundRectCallout">
            <a:avLst>
              <a:gd name="adj1" fmla="val 72917"/>
              <a:gd name="adj2" fmla="val -19707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=R[-1]C+R6C2</a:t>
            </a:r>
            <a:endParaRPr lang="ru-RU" sz="2400" dirty="0"/>
          </a:p>
        </p:txBody>
      </p:sp>
      <p:sp>
        <p:nvSpPr>
          <p:cNvPr id="5" name="Блок-схема: альтернативный процесс 4"/>
          <p:cNvSpPr/>
          <p:nvPr/>
        </p:nvSpPr>
        <p:spPr>
          <a:xfrm>
            <a:off x="4748463" y="4042611"/>
            <a:ext cx="2935705" cy="721894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/>
              <a:t>Стиль ссылок </a:t>
            </a:r>
            <a:r>
              <a:rPr lang="en-US" sz="2400" dirty="0"/>
              <a:t>R1C1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9348837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328410" y="3114136"/>
            <a:ext cx="11261558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– написание длинного текста в ячейке (A1 или R1C1), этот текст будет виден справа наложенным на другие ячейки, пока не встретит непустую ячейку;</a:t>
            </a:r>
          </a:p>
          <a:p>
            <a:r>
              <a:rPr lang="ru-RU" sz="2400" dirty="0"/>
              <a:t>– использование редактора формул Microsoft </a:t>
            </a:r>
            <a:r>
              <a:rPr lang="ru-RU" sz="2400" dirty="0" err="1"/>
              <a:t>Equation</a:t>
            </a:r>
            <a:r>
              <a:rPr lang="ru-RU" sz="2400" dirty="0"/>
              <a:t> для оформления документа (</a:t>
            </a:r>
            <a:r>
              <a:rPr lang="ru-RU" sz="2400" b="1" dirty="0"/>
              <a:t>Вставка </a:t>
            </a:r>
            <a:r>
              <a:rPr lang="ru-RU" sz="2400" dirty="0"/>
              <a:t>► </a:t>
            </a:r>
            <a:r>
              <a:rPr lang="ru-RU" sz="2400" b="1" dirty="0"/>
              <a:t>Объект…);</a:t>
            </a:r>
          </a:p>
          <a:p>
            <a:r>
              <a:rPr lang="ru-RU" sz="2400" dirty="0"/>
              <a:t>– отображение текста в ячейке в несколько строк (параметр ячейки «</a:t>
            </a:r>
            <a:r>
              <a:rPr lang="ru-RU" sz="2400" b="1" dirty="0" smtClean="0"/>
              <a:t>Переносить </a:t>
            </a:r>
            <a:r>
              <a:rPr lang="ru-RU" sz="2400" b="1" dirty="0"/>
              <a:t>по словам</a:t>
            </a:r>
            <a:r>
              <a:rPr lang="ru-RU" sz="2400" dirty="0"/>
              <a:t>» в окне </a:t>
            </a:r>
            <a:r>
              <a:rPr lang="ru-RU" sz="2400" b="1" dirty="0"/>
              <a:t>Формат ячеек </a:t>
            </a:r>
            <a:r>
              <a:rPr lang="ru-RU" sz="2400" dirty="0"/>
              <a:t>или кнопка </a:t>
            </a:r>
            <a:r>
              <a:rPr lang="ru-RU" sz="2400" b="1" dirty="0"/>
              <a:t>Перенос</a:t>
            </a:r>
            <a:r>
              <a:rPr lang="ru-RU" sz="2400" dirty="0"/>
              <a:t> </a:t>
            </a:r>
            <a:r>
              <a:rPr lang="ru-RU" sz="2400" dirty="0" smtClean="0"/>
              <a:t>текста </a:t>
            </a:r>
            <a:r>
              <a:rPr lang="ru-RU" sz="2400" dirty="0"/>
              <a:t>группы </a:t>
            </a:r>
            <a:r>
              <a:rPr lang="ru-RU" sz="2400" b="1" dirty="0"/>
              <a:t>Выравнивание</a:t>
            </a:r>
            <a:r>
              <a:rPr lang="ru-RU" sz="2400" dirty="0"/>
              <a:t> вкладки Главная в Excel 2007;</a:t>
            </a:r>
          </a:p>
          <a:p>
            <a:r>
              <a:rPr lang="ru-RU" sz="2400" dirty="0"/>
              <a:t>– объединение ячеек для написания в них текста с выравниванием по центру (кнопка </a:t>
            </a:r>
            <a:r>
              <a:rPr lang="ru-RU" sz="2400" b="1" dirty="0"/>
              <a:t>Объединить и поместить в центре</a:t>
            </a:r>
            <a:r>
              <a:rPr lang="ru-RU" sz="2400" dirty="0" smtClean="0"/>
              <a:t>);</a:t>
            </a:r>
            <a:endParaRPr lang="ru-RU" sz="2400" dirty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8025" y="0"/>
            <a:ext cx="4804708" cy="3114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65290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8190" y="4755710"/>
            <a:ext cx="112615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/>
              <a:t>– использование относительных </a:t>
            </a:r>
            <a:r>
              <a:rPr lang="ru-RU" sz="2400" b="1" dirty="0" smtClean="0"/>
              <a:t>(D4 или RC[-1]) </a:t>
            </a:r>
            <a:r>
              <a:rPr lang="ru-RU" sz="2400" dirty="0" smtClean="0"/>
              <a:t>и абсолютных </a:t>
            </a:r>
            <a:r>
              <a:rPr lang="ru-RU" sz="2400" b="1" dirty="0" smtClean="0"/>
              <a:t>($B$7 или R7C2) </a:t>
            </a:r>
            <a:r>
              <a:rPr lang="ru-RU" sz="2400" dirty="0" smtClean="0"/>
              <a:t>ссылок при написании формулы, которую предполагается копировать в другие ячейки таблицы y=f(x) (для копирования ячеек лучше всего использовать маркер в правом нижнем углу ячейки). </a:t>
            </a:r>
            <a:endParaRPr lang="en-US" sz="2400" dirty="0" smtClean="0"/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9368" y="125009"/>
            <a:ext cx="8839966" cy="436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73240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92311" y="200963"/>
            <a:ext cx="1126155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При копировании могут возникнуть и более сложные задачи:</a:t>
            </a:r>
          </a:p>
          <a:p>
            <a:r>
              <a:rPr lang="ru-RU" sz="2400" dirty="0"/>
              <a:t>копирование из ячейки части информации; преобразование данных;</a:t>
            </a:r>
          </a:p>
          <a:p>
            <a:r>
              <a:rPr lang="ru-RU" sz="2400" dirty="0"/>
              <a:t>установки связи между ячейками. Они решаются с использованием</a:t>
            </a:r>
          </a:p>
          <a:p>
            <a:r>
              <a:rPr lang="ru-RU" sz="2400" dirty="0"/>
              <a:t>возможностей специальной вставки</a:t>
            </a:r>
            <a:r>
              <a:rPr lang="ru-RU" sz="2400" dirty="0" smtClean="0"/>
              <a:t>.</a:t>
            </a:r>
            <a:endParaRPr lang="en-US" sz="2400" dirty="0" smtClean="0"/>
          </a:p>
          <a:p>
            <a:endParaRPr lang="en-US" sz="2400" dirty="0" smtClean="0"/>
          </a:p>
          <a:p>
            <a:r>
              <a:rPr lang="ru-RU" sz="2400" dirty="0"/>
              <a:t>Для извлечения из буфера обмена фрагмента с помощью </a:t>
            </a:r>
            <a:r>
              <a:rPr lang="ru-RU" sz="2400" dirty="0" smtClean="0"/>
              <a:t>специальной </a:t>
            </a:r>
            <a:r>
              <a:rPr lang="ru-RU" sz="2400" dirty="0"/>
              <a:t>вставки на ленте </a:t>
            </a:r>
            <a:r>
              <a:rPr lang="ru-RU" sz="2400" b="1" dirty="0"/>
              <a:t>Главная </a:t>
            </a:r>
            <a:r>
              <a:rPr lang="ru-RU" sz="2400" dirty="0"/>
              <a:t>в группе </a:t>
            </a:r>
            <a:r>
              <a:rPr lang="ru-RU" sz="2400" b="1" dirty="0"/>
              <a:t>Буфер</a:t>
            </a:r>
            <a:r>
              <a:rPr lang="ru-RU" sz="2400" dirty="0"/>
              <a:t> обмена надо нажать</a:t>
            </a:r>
          </a:p>
          <a:p>
            <a:r>
              <a:rPr lang="ru-RU" sz="2400" dirty="0"/>
              <a:t>на стрелку кнопки Вставить и в появившемся меню выбрать один из</a:t>
            </a:r>
          </a:p>
          <a:p>
            <a:r>
              <a:rPr lang="ru-RU" sz="2400" dirty="0" smtClean="0"/>
              <a:t>Способов</a:t>
            </a:r>
            <a:endParaRPr lang="en-US" sz="2400" dirty="0" smtClean="0"/>
          </a:p>
          <a:p>
            <a:endParaRPr lang="ru-RU" sz="2400" dirty="0"/>
          </a:p>
          <a:p>
            <a:endParaRPr lang="ru-RU" sz="2400" dirty="0"/>
          </a:p>
          <a:p>
            <a:endParaRPr lang="en-US" sz="2400" dirty="0" smtClean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9599763"/>
              </p:ext>
            </p:extLst>
          </p:nvPr>
        </p:nvGraphicFramePr>
        <p:xfrm>
          <a:off x="698740" y="4149306"/>
          <a:ext cx="10601864" cy="17571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626"/>
                <a:gridCol w="8307238"/>
              </a:tblGrid>
              <a:tr h="842738">
                <a:tc>
                  <a:txBody>
                    <a:bodyPr/>
                    <a:lstStyle/>
                    <a:p>
                      <a:pPr algn="l"/>
                      <a:r>
                        <a:rPr lang="ru-RU" b="0" i="0" dirty="0" smtClean="0">
                          <a:solidFill>
                            <a:srgbClr val="1A1A1A"/>
                          </a:solidFill>
                          <a:effectLst/>
                          <a:latin typeface="YS Text"/>
                        </a:rPr>
                        <a:t>Команда меню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i="0" dirty="0" smtClean="0">
                          <a:solidFill>
                            <a:srgbClr val="1A1A1A"/>
                          </a:solidFill>
                          <a:effectLst/>
                          <a:latin typeface="YS Text"/>
                        </a:rPr>
                        <a:t>Результат выполнения</a:t>
                      </a:r>
                      <a:endParaRPr lang="ru-RU" b="0" i="0" dirty="0">
                        <a:solidFill>
                          <a:srgbClr val="1A1A1A"/>
                        </a:solidFill>
                        <a:effectLst/>
                        <a:latin typeface="YS Text"/>
                      </a:endParaRPr>
                    </a:p>
                  </a:txBody>
                  <a:tcPr/>
                </a:tc>
              </a:tr>
              <a:tr h="842738"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Формулы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Вставляются только формулы в том виде, в котором они</a:t>
                      </a:r>
                    </a:p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вводятся в строку формул. Оформление не копируется</a:t>
                      </a:r>
                    </a:p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5048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92311" y="200963"/>
            <a:ext cx="1126155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/>
          </a:p>
          <a:p>
            <a:endParaRPr lang="ru-RU" sz="2400" dirty="0"/>
          </a:p>
          <a:p>
            <a:endParaRPr lang="en-US" sz="2400" dirty="0" smtClean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4869072"/>
              </p:ext>
            </p:extLst>
          </p:nvPr>
        </p:nvGraphicFramePr>
        <p:xfrm>
          <a:off x="698740" y="940280"/>
          <a:ext cx="10601864" cy="42614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4626"/>
                <a:gridCol w="8307238"/>
              </a:tblGrid>
              <a:tr h="603848">
                <a:tc>
                  <a:txBody>
                    <a:bodyPr/>
                    <a:lstStyle/>
                    <a:p>
                      <a:pPr algn="l"/>
                      <a:r>
                        <a:rPr lang="ru-RU" b="0" i="0" dirty="0" smtClean="0">
                          <a:solidFill>
                            <a:srgbClr val="1A1A1A"/>
                          </a:solidFill>
                          <a:effectLst/>
                          <a:latin typeface="YS Text"/>
                        </a:rPr>
                        <a:t>Команда меню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0" i="0" dirty="0" smtClean="0">
                          <a:solidFill>
                            <a:srgbClr val="1A1A1A"/>
                          </a:solidFill>
                          <a:effectLst/>
                          <a:latin typeface="YS Text"/>
                        </a:rPr>
                        <a:t>Результат выполнения</a:t>
                      </a:r>
                      <a:endParaRPr lang="ru-RU" b="0" i="0" dirty="0">
                        <a:solidFill>
                          <a:srgbClr val="1A1A1A"/>
                        </a:solidFill>
                        <a:effectLst/>
                        <a:latin typeface="YS Text"/>
                      </a:endParaRPr>
                    </a:p>
                  </a:txBody>
                  <a:tcPr/>
                </a:tc>
              </a:tr>
              <a:tr h="437689">
                <a:tc>
                  <a:txBody>
                    <a:bodyPr/>
                    <a:lstStyle/>
                    <a:p>
                      <a:pPr algn="l"/>
                      <a:r>
                        <a:rPr lang="ru-RU" b="0" i="0" dirty="0" smtClean="0">
                          <a:solidFill>
                            <a:srgbClr val="1A1A1A"/>
                          </a:solidFill>
                          <a:effectLst/>
                          <a:latin typeface="YS Text"/>
                        </a:rPr>
                        <a:t>Вставить значения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Вставляются только значения скопированных ячеек.</a:t>
                      </a:r>
                    </a:p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Оформление и формулы не копируются</a:t>
                      </a:r>
                    </a:p>
                    <a:p>
                      <a:endParaRPr lang="ru-RU" dirty="0"/>
                    </a:p>
                  </a:txBody>
                  <a:tcPr/>
                </a:tc>
              </a:tr>
              <a:tr h="437689">
                <a:tc>
                  <a:txBody>
                    <a:bodyPr/>
                    <a:lstStyle/>
                    <a:p>
                      <a:pPr algn="l"/>
                      <a:r>
                        <a:rPr lang="ru-RU" b="0" i="0" dirty="0" smtClean="0">
                          <a:solidFill>
                            <a:srgbClr val="1A1A1A"/>
                          </a:solidFill>
                          <a:effectLst/>
                          <a:latin typeface="YS Text"/>
                        </a:rPr>
                        <a:t>Без рамок</a:t>
                      </a:r>
                    </a:p>
                    <a:p>
                      <a:pPr algn="l"/>
                      <a:endParaRPr lang="ru-RU" b="0" i="0" dirty="0" smtClean="0">
                        <a:solidFill>
                          <a:srgbClr val="1A1A1A"/>
                        </a:solidFill>
                        <a:effectLst/>
                        <a:latin typeface="Y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Вставляется содержимое и оформление скопированных</a:t>
                      </a:r>
                    </a:p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ячеек, за исключением границ</a:t>
                      </a:r>
                    </a:p>
                    <a:p>
                      <a:endParaRPr lang="ru-RU" dirty="0"/>
                    </a:p>
                  </a:txBody>
                  <a:tcPr/>
                </a:tc>
              </a:tr>
              <a:tr h="437689"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Транспонировать</a:t>
                      </a:r>
                      <a:endParaRPr lang="ru-RU" b="0" i="0" dirty="0">
                        <a:solidFill>
                          <a:srgbClr val="1A1A1A"/>
                        </a:solidFill>
                        <a:effectLst/>
                        <a:latin typeface="Y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Происходит преобразование данных. Ячейки строк вставляются как столбцы, ячейки столбцов вставляются как</a:t>
                      </a:r>
                      <a:r>
                        <a:rPr lang="en-US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строки</a:t>
                      </a:r>
                    </a:p>
                    <a:p>
                      <a:endParaRPr lang="ru-RU" dirty="0"/>
                    </a:p>
                  </a:txBody>
                  <a:tcPr/>
                </a:tc>
              </a:tr>
              <a:tr h="437689">
                <a:tc>
                  <a:txBody>
                    <a:bodyPr/>
                    <a:lstStyle/>
                    <a:p>
                      <a:pPr algn="l"/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Вставить связь</a:t>
                      </a:r>
                      <a:endParaRPr lang="ru-RU" b="0" i="0" dirty="0">
                        <a:solidFill>
                          <a:srgbClr val="1A1A1A"/>
                        </a:solidFill>
                        <a:effectLst/>
                        <a:latin typeface="YS Tex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Данные вставляются в виде формул, связывающих диапазон вставки с копируемым диапазоном. Оформление не</a:t>
                      </a:r>
                      <a:r>
                        <a:rPr lang="en-US" sz="1800" b="0" i="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копируется</a:t>
                      </a:r>
                    </a:p>
                    <a:p>
                      <a:endParaRPr lang="ru-R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56634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44069" y="4824722"/>
            <a:ext cx="1126155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ru-RU" sz="2400" dirty="0" smtClean="0"/>
          </a:p>
          <a:p>
            <a:pPr algn="ctr"/>
            <a:r>
              <a:rPr lang="ru-RU" sz="2400" b="1" dirty="0" smtClean="0"/>
              <a:t>Никогда </a:t>
            </a:r>
            <a:r>
              <a:rPr lang="ru-RU" sz="2400" b="1" dirty="0"/>
              <a:t>не следует писать в формулах ссылки на ячейки </a:t>
            </a:r>
            <a:r>
              <a:rPr lang="ru-RU" sz="2400" b="1" dirty="0" smtClean="0"/>
              <a:t>посимвольно</a:t>
            </a:r>
            <a:r>
              <a:rPr lang="ru-RU" sz="2400" b="1" dirty="0"/>
              <a:t>. Правильно начинать написание формулы со знака равно (=), после этого ссылки заносить в формулу указанием мышкой нужных ячеек на листе таблицы.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683" y="224787"/>
            <a:ext cx="10256203" cy="4441604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048000" y="2274838"/>
            <a:ext cx="6096000" cy="230832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Функции сгруппированы по типу обрабатываемых ими данных:</a:t>
            </a:r>
          </a:p>
          <a:p>
            <a:r>
              <a:rPr lang="ru-RU" dirty="0"/>
              <a:t>– текстовые (ЛЕВСИМВ, ПРАВСИМВ, ПСТР…);</a:t>
            </a:r>
          </a:p>
          <a:p>
            <a:r>
              <a:rPr lang="ru-RU" dirty="0"/>
              <a:t>– математические (ABS, ACOS, LN, LOG10…);</a:t>
            </a:r>
          </a:p>
          <a:p>
            <a:r>
              <a:rPr lang="ru-RU" dirty="0"/>
              <a:t>– в том числе матричные МОБР, МОПРЕД, МУМНОЖ;</a:t>
            </a:r>
          </a:p>
          <a:p>
            <a:r>
              <a:rPr lang="ru-RU" dirty="0"/>
              <a:t>– финансовые (БС, ВСД, КПЕР…);</a:t>
            </a:r>
          </a:p>
          <a:p>
            <a:r>
              <a:rPr lang="ru-RU" dirty="0"/>
              <a:t>– статистические (ДИСП, КВАДРОТКЛ, КОРРЕЛ…);</a:t>
            </a:r>
          </a:p>
          <a:p>
            <a:r>
              <a:rPr lang="ru-RU" dirty="0"/>
              <a:t>– работы с датой и временем (СЕГОДНЯ, ТДАТА, МИНУТЫ…).</a:t>
            </a:r>
          </a:p>
        </p:txBody>
      </p:sp>
    </p:spTree>
    <p:extLst>
      <p:ext uri="{BB962C8B-B14F-4D97-AF65-F5344CB8AC3E}">
        <p14:creationId xmlns:p14="http://schemas.microsoft.com/office/powerpoint/2010/main" val="97912418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4600" y="-3662"/>
            <a:ext cx="6616599" cy="390535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5243352" y="4130947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– СУММ – имя функции; </a:t>
            </a:r>
          </a:p>
          <a:p>
            <a:r>
              <a:rPr lang="ru-RU" dirty="0"/>
              <a:t>– D4, D8, $C$1, $B$1 – ссылки; </a:t>
            </a:r>
          </a:p>
          <a:p>
            <a:r>
              <a:rPr lang="ru-RU" dirty="0"/>
              <a:t>– D4:D8 – диапазон ячеек; </a:t>
            </a:r>
          </a:p>
          <a:p>
            <a:r>
              <a:rPr lang="ru-RU" dirty="0"/>
              <a:t>– «цена», «количество» – имена диапазонов ячеек; </a:t>
            </a:r>
          </a:p>
          <a:p>
            <a:r>
              <a:rPr lang="ru-RU" dirty="0"/>
              <a:t>– 150 – константа.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589472" y="5745518"/>
            <a:ext cx="111252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Формула – это выражение, которое начинается со знака «=» и производит вычисления с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21500716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455001" y="4400812"/>
            <a:ext cx="11125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Если в формуле введена с ошибкой, то в ячейке вместо формулы будет отображен код ошибки. На </a:t>
            </a:r>
            <a:r>
              <a:rPr lang="ru-RU" sz="2400" dirty="0" smtClean="0"/>
              <a:t>рисунке приведен </a:t>
            </a:r>
            <a:r>
              <a:rPr lang="ru-RU" sz="2400" dirty="0"/>
              <a:t>пример кода ошибки «#ИМЯ?». В левом верхнем углу такой ячейки появляется </a:t>
            </a:r>
            <a:r>
              <a:rPr lang="ru-RU" sz="2400" dirty="0" smtClean="0"/>
              <a:t>зеленый </a:t>
            </a:r>
            <a:r>
              <a:rPr lang="ru-RU" sz="2400" dirty="0"/>
              <a:t>треугольник, а рядом с ней копка «Ошибка». При нажатии на стрелке этой кнопки открывается меню, в котором приведено описание ошибки.</a:t>
            </a:r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494" y="152400"/>
            <a:ext cx="6669741" cy="417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9351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683988"/>
              </p:ext>
            </p:extLst>
          </p:nvPr>
        </p:nvGraphicFramePr>
        <p:xfrm>
          <a:off x="534839" y="138019"/>
          <a:ext cx="11253750" cy="6378419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06769"/>
                <a:gridCol w="8846981"/>
              </a:tblGrid>
              <a:tr h="41407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Код ошибки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Описание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67493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####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Ширина столбца недостаточна для того, чтобы вместить значение.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14777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#</a:t>
                      </a:r>
                      <a:r>
                        <a:rPr lang="ru-RU" sz="1600">
                          <a:effectLst/>
                        </a:rPr>
                        <a:t>ЗНАЧ!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 формулу введен неверный тип аргумента (например, текст, там, где должны быть значения </a:t>
                      </a:r>
                      <a:r>
                        <a:rPr lang="ru-RU" sz="1600" dirty="0" smtClean="0">
                          <a:effectLst/>
                        </a:rPr>
                        <a:t>ИСТИНА </a:t>
                      </a:r>
                      <a:r>
                        <a:rPr lang="ru-RU" sz="1600" dirty="0">
                          <a:effectLst/>
                        </a:rPr>
                        <a:t>или ЛОЖЬ).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878932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#</a:t>
                      </a:r>
                      <a:r>
                        <a:rPr lang="ru-RU" sz="1600">
                          <a:effectLst/>
                        </a:rPr>
                        <a:t>ИМЯ?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Формула содержит текст, который не распознается </a:t>
                      </a:r>
                      <a:r>
                        <a:rPr lang="en-US" sz="1600" dirty="0">
                          <a:effectLst/>
                        </a:rPr>
                        <a:t>Excel </a:t>
                      </a:r>
                      <a:r>
                        <a:rPr lang="ru-RU" sz="1600" dirty="0">
                          <a:effectLst/>
                        </a:rPr>
                        <a:t>(например, неизвестный диапазон ячеек).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37976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>
                          <a:effectLst/>
                        </a:rPr>
                        <a:t>#</a:t>
                      </a:r>
                      <a:r>
                        <a:rPr lang="ru-RU" sz="1600">
                          <a:effectLst/>
                        </a:rPr>
                        <a:t>ССЫЛКА!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Формула ссылается на несуществующую ячейку (это может произойти, если, например, ячейка была удалена.)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1698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#</a:t>
                      </a:r>
                      <a:r>
                        <a:rPr lang="ru-RU" sz="1600" dirty="0">
                          <a:effectLst/>
                        </a:rPr>
                        <a:t>ДЕЛО/0!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Попытка деления на ноль в формуле.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231699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#ЧИСЛО!</a:t>
                      </a:r>
                      <a:endParaRPr lang="ru-RU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Числовое значение результата вычисления</a:t>
                      </a:r>
                    </a:p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формулы слишком велико или слишком мало,</a:t>
                      </a:r>
                    </a:p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чтобы его можно было представить в </a:t>
                      </a:r>
                      <a:r>
                        <a:rPr lang="ru-RU" sz="1600" b="0" i="0" kern="1200" dirty="0" err="1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Excel</a:t>
                      </a:r>
                      <a:endParaRPr lang="ru-RU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157734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#ПУСТО!</a:t>
                      </a:r>
                      <a:endParaRPr lang="ru-RU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rowSpan="2"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Используется ошибочный оператор диапазона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52578">
                <a:tc rowSpan="2">
                  <a:txBody>
                    <a:bodyPr/>
                    <a:lstStyle/>
                    <a:p>
                      <a:pPr indent="450215"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ru-RU" sz="1600" b="1" i="0" kern="1200" dirty="0" smtClean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#Н/Д</a:t>
                      </a:r>
                      <a:endParaRPr lang="ru-RU" sz="1600" b="1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</a:tr>
              <a:tr h="368046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Не заданы один или несколько необходимых</a:t>
                      </a:r>
                    </a:p>
                    <a:p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Аргументов</a:t>
                      </a:r>
                      <a:r>
                        <a:rPr lang="en-US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600" b="0" i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стандартной или пользовательской функции листа</a:t>
                      </a:r>
                    </a:p>
                    <a:p>
                      <a:endParaRPr lang="ru-RU" sz="1600" b="0" i="0" kern="1200" dirty="0" smtClean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11406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21973" y="1421708"/>
            <a:ext cx="1116530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58775"/>
            <a:r>
              <a:rPr lang="ru-RU" sz="2400" dirty="0" smtClean="0"/>
              <a:t>Вместо </a:t>
            </a:r>
            <a:r>
              <a:rPr lang="ru-RU" sz="2400" dirty="0"/>
              <a:t>ссылок на ячейки в формулах можно использовать имена ячеек и их групп. Имя ячейке или выделенной группе ячеек можно </a:t>
            </a:r>
            <a:r>
              <a:rPr lang="ru-RU" sz="2400" dirty="0" smtClean="0"/>
              <a:t>присвоить</a:t>
            </a:r>
            <a:r>
              <a:rPr lang="ru-RU" sz="2400" dirty="0"/>
              <a:t>, задав его в поле Имя, находящемся в начале строки </a:t>
            </a:r>
            <a:r>
              <a:rPr lang="ru-RU" sz="2400" dirty="0" smtClean="0"/>
              <a:t>формул.</a:t>
            </a:r>
          </a:p>
          <a:p>
            <a:pPr indent="358775"/>
            <a:endParaRPr lang="ru-RU" sz="2400" dirty="0" smtClean="0"/>
          </a:p>
          <a:p>
            <a:pPr indent="358775"/>
            <a:r>
              <a:rPr lang="ru-RU" sz="2400" dirty="0" smtClean="0"/>
              <a:t> </a:t>
            </a:r>
            <a:r>
              <a:rPr lang="ru-RU" sz="2400" dirty="0"/>
              <a:t>Для работы с Именами служит группа </a:t>
            </a:r>
            <a:r>
              <a:rPr lang="ru-RU" sz="2400" b="1" dirty="0"/>
              <a:t>Определенные имена </a:t>
            </a:r>
            <a:r>
              <a:rPr lang="ru-RU" sz="2400" dirty="0"/>
              <a:t>вкладки </a:t>
            </a:r>
            <a:r>
              <a:rPr lang="ru-RU" sz="2400" b="1" dirty="0"/>
              <a:t>Формулы</a:t>
            </a:r>
            <a:r>
              <a:rPr lang="ru-RU" sz="2400" dirty="0"/>
              <a:t>. Имя ячейки или их группы можно задать в </a:t>
            </a:r>
            <a:r>
              <a:rPr lang="ru-RU" sz="2400" b="1" dirty="0"/>
              <a:t>Диспетчере имен</a:t>
            </a:r>
            <a:r>
              <a:rPr lang="ru-RU" sz="2400" dirty="0"/>
              <a:t>, при этом можно определить область действия имен (</a:t>
            </a:r>
            <a:r>
              <a:rPr lang="ru-RU" sz="2400" b="1" dirty="0"/>
              <a:t>Книга или какой-либо из ее листов</a:t>
            </a:r>
            <a:r>
              <a:rPr lang="ru-RU" sz="2400" dirty="0" smtClean="0"/>
              <a:t>). </a:t>
            </a:r>
          </a:p>
          <a:p>
            <a:pPr indent="358775"/>
            <a:endParaRPr lang="ru-RU" sz="2400" dirty="0" smtClean="0"/>
          </a:p>
          <a:p>
            <a:pPr indent="358775"/>
            <a:r>
              <a:rPr lang="ru-RU" sz="2400" dirty="0" smtClean="0"/>
              <a:t>Заданные </a:t>
            </a:r>
            <a:r>
              <a:rPr lang="ru-RU" sz="2400" dirty="0"/>
              <a:t>имена ячеек можно использовать в формулах. Имя ячейки в формулах играет роль абсолютной ссылки. Имя столбца в формуле эквивалентно смешанной ссылке с неизменным обозначением столбца и относительным номером строки.</a:t>
            </a:r>
          </a:p>
        </p:txBody>
      </p:sp>
    </p:spTree>
    <p:extLst>
      <p:ext uri="{BB962C8B-B14F-4D97-AF65-F5344CB8AC3E}">
        <p14:creationId xmlns:p14="http://schemas.microsoft.com/office/powerpoint/2010/main" val="36474912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095" y="112296"/>
            <a:ext cx="11598442" cy="6324568"/>
          </a:xfrm>
          <a:prstGeom prst="rect">
            <a:avLst/>
          </a:prstGeom>
        </p:spPr>
      </p:pic>
      <p:sp>
        <p:nvSpPr>
          <p:cNvPr id="5" name="Скругленная прямоугольная выноска 4"/>
          <p:cNvSpPr/>
          <p:nvPr/>
        </p:nvSpPr>
        <p:spPr>
          <a:xfrm>
            <a:off x="2454440" y="1809742"/>
            <a:ext cx="1652338" cy="721894"/>
          </a:xfrm>
          <a:prstGeom prst="wedgeRoundRectCallout">
            <a:avLst>
              <a:gd name="adj1" fmla="val -67987"/>
              <a:gd name="adj2" fmla="val 110776"/>
              <a:gd name="adj3" fmla="val 16667"/>
            </a:avLst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Текст 1</a:t>
            </a:r>
            <a:endParaRPr lang="ru-RU" dirty="0"/>
          </a:p>
        </p:txBody>
      </p:sp>
      <p:sp>
        <p:nvSpPr>
          <p:cNvPr id="6" name="Скругленная прямоугольная выноска 5"/>
          <p:cNvSpPr/>
          <p:nvPr/>
        </p:nvSpPr>
        <p:spPr>
          <a:xfrm>
            <a:off x="1588167" y="5634758"/>
            <a:ext cx="2518611" cy="914400"/>
          </a:xfrm>
          <a:prstGeom prst="wedgeRoundRectCallout">
            <a:avLst>
              <a:gd name="adj1" fmla="val -55886"/>
              <a:gd name="adj2" fmla="val -23925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Группа А4: А19</a:t>
            </a:r>
          </a:p>
          <a:p>
            <a:pPr algn="ctr"/>
            <a:r>
              <a:rPr lang="ru-RU" dirty="0" smtClean="0"/>
              <a:t>с именем Х</a:t>
            </a:r>
            <a:endParaRPr lang="ru-RU" dirty="0"/>
          </a:p>
        </p:txBody>
      </p:sp>
      <p:sp>
        <p:nvSpPr>
          <p:cNvPr id="8" name="Скругленная прямоугольная выноска 7"/>
          <p:cNvSpPr/>
          <p:nvPr/>
        </p:nvSpPr>
        <p:spPr>
          <a:xfrm>
            <a:off x="2638927" y="4739416"/>
            <a:ext cx="2221831" cy="609600"/>
          </a:xfrm>
          <a:prstGeom prst="wedgeRoundRectCallout">
            <a:avLst>
              <a:gd name="adj1" fmla="val -63871"/>
              <a:gd name="adj2" fmla="val -187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=a*EXP(-b*X^2)</a:t>
            </a:r>
            <a:endParaRPr lang="ru-RU"/>
          </a:p>
        </p:txBody>
      </p:sp>
      <p:sp>
        <p:nvSpPr>
          <p:cNvPr id="9" name="Скругленная прямоугольная выноска 8"/>
          <p:cNvSpPr/>
          <p:nvPr/>
        </p:nvSpPr>
        <p:spPr>
          <a:xfrm>
            <a:off x="2871536" y="2897590"/>
            <a:ext cx="1620253" cy="753979"/>
          </a:xfrm>
          <a:prstGeom prst="wedgeRoundRectCallout">
            <a:avLst>
              <a:gd name="adj1" fmla="val 34442"/>
              <a:gd name="adj2" fmla="val 8164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 smtClean="0"/>
              <a:t>Имя</a:t>
            </a:r>
          </a:p>
          <a:p>
            <a:pPr algn="ctr"/>
            <a:r>
              <a:rPr lang="ru-RU" dirty="0" smtClean="0"/>
              <a:t> </a:t>
            </a:r>
            <a:r>
              <a:rPr lang="ru-RU" dirty="0"/>
              <a:t>ячейки </a:t>
            </a:r>
            <a:r>
              <a:rPr lang="en-US" dirty="0"/>
              <a:t>a</a:t>
            </a:r>
            <a:endParaRPr lang="ru-RU" dirty="0"/>
          </a:p>
        </p:txBody>
      </p:sp>
      <p:sp>
        <p:nvSpPr>
          <p:cNvPr id="10" name="Скругленная прямоугольная выноска 9"/>
          <p:cNvSpPr/>
          <p:nvPr/>
        </p:nvSpPr>
        <p:spPr>
          <a:xfrm>
            <a:off x="5181600" y="4058653"/>
            <a:ext cx="2919663" cy="680763"/>
          </a:xfrm>
          <a:prstGeom prst="wedgeRoundRectCallout">
            <a:avLst>
              <a:gd name="adj1" fmla="val -68910"/>
              <a:gd name="adj2" fmla="val -2940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Ячейка D5 с именем b</a:t>
            </a:r>
          </a:p>
        </p:txBody>
      </p:sp>
    </p:spTree>
    <p:extLst>
      <p:ext uri="{BB962C8B-B14F-4D97-AF65-F5344CB8AC3E}">
        <p14:creationId xmlns:p14="http://schemas.microsoft.com/office/powerpoint/2010/main" val="2938829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600937" y="456310"/>
            <a:ext cx="7856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 формулах могут использоваться следующие операторы: 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9074578"/>
              </p:ext>
            </p:extLst>
          </p:nvPr>
        </p:nvGraphicFramePr>
        <p:xfrm>
          <a:off x="1219199" y="1830356"/>
          <a:ext cx="9610166" cy="33649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47366"/>
                <a:gridCol w="3958965"/>
                <a:gridCol w="3203835"/>
              </a:tblGrid>
              <a:tr h="66748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Обозначение операции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Описание операции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Пример выражения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374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+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Сложение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=А1+В1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374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–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Вычитание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=С2-В2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374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*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Умножение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=С6*В6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374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/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Деление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=Е1/</a:t>
                      </a:r>
                      <a:r>
                        <a:rPr lang="en-US" sz="2400">
                          <a:effectLst/>
                        </a:rPr>
                        <a:t>G2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374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%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Процент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=F16*50%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3374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^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Возведение в степень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=H5^</a:t>
                      </a:r>
                      <a:r>
                        <a:rPr lang="ru-RU" sz="2400" dirty="0">
                          <a:effectLst/>
                        </a:rPr>
                        <a:t>2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4242707" y="1191416"/>
            <a:ext cx="391741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 smtClean="0"/>
              <a:t>Арифметические операторы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5635469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600937" y="456310"/>
            <a:ext cx="7856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 формулах могут использоваться следующие операторы: 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5217175"/>
              </p:ext>
            </p:extLst>
          </p:nvPr>
        </p:nvGraphicFramePr>
        <p:xfrm>
          <a:off x="645459" y="2329061"/>
          <a:ext cx="10452846" cy="369957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483312"/>
                <a:gridCol w="3484767"/>
                <a:gridCol w="3484767"/>
              </a:tblGrid>
              <a:tr h="4805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Обозначение операции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Описание операции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Пример выражения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Равно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=E14=E20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&gt;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Больше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</a:t>
                      </a:r>
                      <a:r>
                        <a:rPr lang="en-US" sz="2400">
                          <a:effectLst/>
                        </a:rPr>
                        <a:t>E14+D14&gt;6000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&lt;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Меньше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=D5&gt;D6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&gt;=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Больше или равно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=D7&gt;=D8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&lt;=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Меньше или равно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=C6&lt;=C16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80504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&lt;&gt;</a:t>
                      </a:r>
                      <a:r>
                        <a:rPr lang="en-US" sz="2400">
                          <a:effectLst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Не равно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=D2&lt;&gt;F2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4485102" y="1343816"/>
            <a:ext cx="31073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Операторы сравнения</a:t>
            </a:r>
          </a:p>
        </p:txBody>
      </p:sp>
    </p:spTree>
    <p:extLst>
      <p:ext uri="{BB962C8B-B14F-4D97-AF65-F5344CB8AC3E}">
        <p14:creationId xmlns:p14="http://schemas.microsoft.com/office/powerpoint/2010/main" val="23034852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600937" y="456310"/>
            <a:ext cx="7856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 формулах могут использоваться следующие операторы: </a:t>
            </a:r>
          </a:p>
        </p:txBody>
      </p:sp>
      <p:graphicFrame>
        <p:nvGraphicFramePr>
          <p:cNvPr id="2" name="Таблица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938789"/>
              </p:ext>
            </p:extLst>
          </p:nvPr>
        </p:nvGraphicFramePr>
        <p:xfrm>
          <a:off x="295837" y="2625391"/>
          <a:ext cx="11098305" cy="3022435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653942"/>
                <a:gridCol w="2894631"/>
                <a:gridCol w="3209943"/>
                <a:gridCol w="2339789"/>
              </a:tblGrid>
              <a:tr h="997382"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Обозначение операции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Описание операции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Пример выражения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Результат вычисления выражения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997382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&amp;</a:t>
                      </a:r>
                      <a:r>
                        <a:rPr lang="ru-RU" sz="2400">
                          <a:effectLst/>
                        </a:rPr>
                        <a:t> (амперсанд)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Конкатенация (объединение строк)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=А1</a:t>
                      </a:r>
                      <a:r>
                        <a:rPr lang="en-US" sz="2400">
                          <a:effectLst/>
                        </a:rPr>
                        <a:t>&amp;A2&amp;A3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Сцепление текста из ячеек А1, А2 и А3.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498691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 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>
                          <a:effectLst/>
                        </a:rPr>
                        <a:t>=</a:t>
                      </a:r>
                      <a:r>
                        <a:rPr lang="en-US" sz="2400">
                          <a:effectLst/>
                        </a:rPr>
                        <a:t>”</a:t>
                      </a:r>
                      <a:r>
                        <a:rPr lang="ru-RU" sz="2400">
                          <a:effectLst/>
                        </a:rPr>
                        <a:t>Иван</a:t>
                      </a:r>
                      <a:r>
                        <a:rPr lang="en-US" sz="2400">
                          <a:effectLst/>
                        </a:rPr>
                        <a:t>”&amp;”</a:t>
                      </a:r>
                      <a:r>
                        <a:rPr lang="ru-RU" sz="2400">
                          <a:effectLst/>
                        </a:rPr>
                        <a:t>Иванов</a:t>
                      </a:r>
                      <a:r>
                        <a:rPr lang="en-US" sz="2400">
                          <a:effectLst/>
                        </a:rPr>
                        <a:t>”</a:t>
                      </a:r>
                      <a:endParaRPr lang="ru-RU" sz="2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400" dirty="0">
                          <a:effectLst/>
                        </a:rPr>
                        <a:t>Иван Иванов</a:t>
                      </a:r>
                      <a:endParaRPr lang="ru-RU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4" name="Прямоугольник 3"/>
          <p:cNvSpPr/>
          <p:nvPr/>
        </p:nvSpPr>
        <p:spPr>
          <a:xfrm>
            <a:off x="3387662" y="1514146"/>
            <a:ext cx="60768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Оператор объединения текстовых данных &amp;.</a:t>
            </a:r>
          </a:p>
        </p:txBody>
      </p:sp>
    </p:spTree>
    <p:extLst>
      <p:ext uri="{BB962C8B-B14F-4D97-AF65-F5344CB8AC3E}">
        <p14:creationId xmlns:p14="http://schemas.microsoft.com/office/powerpoint/2010/main" val="170118527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2574043" y="0"/>
            <a:ext cx="78565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В формулах могут использоваться следующие операторы: 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4211540"/>
              </p:ext>
            </p:extLst>
          </p:nvPr>
        </p:nvGraphicFramePr>
        <p:xfrm>
          <a:off x="367553" y="917975"/>
          <a:ext cx="11465860" cy="561729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65565"/>
                <a:gridCol w="2866765"/>
                <a:gridCol w="2866765"/>
                <a:gridCol w="2866765"/>
              </a:tblGrid>
              <a:tr h="71823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Обозначение операции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Описание операции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Пример выражения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Результат вычисления выражения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</a:tr>
              <a:tr h="137219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: (двоеточие)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Оператор диапазона, используется для указания ссылки на диапазон ячеек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=СУММ(</a:t>
                      </a:r>
                      <a:r>
                        <a:rPr lang="en-US" sz="1800">
                          <a:effectLst/>
                        </a:rPr>
                        <a:t>B1:D1)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Вычисляется сумма содержимого ячеек </a:t>
                      </a:r>
                      <a:r>
                        <a:rPr lang="en-US" sz="1800">
                          <a:effectLst/>
                        </a:rPr>
                        <a:t>B</a:t>
                      </a:r>
                      <a:r>
                        <a:rPr lang="ru-RU" sz="1800">
                          <a:effectLst/>
                        </a:rPr>
                        <a:t>1, C1 и D1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</a:tr>
              <a:tr h="47881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А:А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Ссылка на столбец А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</a:tr>
              <a:tr h="47881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 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 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1:1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Ссылка на строку 1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</a:tr>
              <a:tr h="1372190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; (точка с запятой)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Оператор объединения диапазонов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=СУММ(С5:С7;А3:С3)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Вычисляется сумма двух несмежных диапазонов С5:С7 и А3:С3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</a:tr>
              <a:tr h="1197049"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Пробел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Оператор пересечения диапазонов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=СУММ(А5:В11 В8:С10)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  <a:tc>
                  <a:txBody>
                    <a:bodyPr/>
                    <a:lstStyle/>
                    <a:p>
                      <a:pPr indent="450215"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Вычисляется сумма содержимого ячеек В8, В9 и </a:t>
                      </a:r>
                      <a:r>
                        <a:rPr lang="ru-RU" sz="1800" dirty="0" smtClean="0">
                          <a:effectLst/>
                        </a:rPr>
                        <a:t>В10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5282" marR="55282" marT="0" marB="0"/>
                </a:tc>
              </a:tr>
            </a:tbl>
          </a:graphicData>
        </a:graphic>
      </p:graphicFrame>
      <p:sp>
        <p:nvSpPr>
          <p:cNvPr id="6" name="Прямоугольник 5"/>
          <p:cNvSpPr/>
          <p:nvPr/>
        </p:nvSpPr>
        <p:spPr>
          <a:xfrm>
            <a:off x="3913060" y="461665"/>
            <a:ext cx="543975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Адресные операторы диапазонов ячеек</a:t>
            </a:r>
          </a:p>
        </p:txBody>
      </p:sp>
    </p:spTree>
    <p:extLst>
      <p:ext uri="{BB962C8B-B14F-4D97-AF65-F5344CB8AC3E}">
        <p14:creationId xmlns:p14="http://schemas.microsoft.com/office/powerpoint/2010/main" val="195211299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976" y="358589"/>
            <a:ext cx="4796764" cy="360962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3442447" y="4925670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400" dirty="0"/>
              <a:t>Пересечение диапазонов для выражения </a:t>
            </a:r>
          </a:p>
          <a:p>
            <a:r>
              <a:rPr lang="ru-RU" sz="2400" dirty="0"/>
              <a:t>«=СУММ(А5:В11 В8:С10)».</a:t>
            </a:r>
          </a:p>
        </p:txBody>
      </p:sp>
    </p:spTree>
    <p:extLst>
      <p:ext uri="{BB962C8B-B14F-4D97-AF65-F5344CB8AC3E}">
        <p14:creationId xmlns:p14="http://schemas.microsoft.com/office/powerpoint/2010/main" val="39053010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120587" y="2551837"/>
            <a:ext cx="1045284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Абсолютная ссылка создает ссылку на определенную (</a:t>
            </a:r>
            <a:r>
              <a:rPr lang="ru-RU" dirty="0" err="1"/>
              <a:t>фиксиро</a:t>
            </a:r>
            <a:r>
              <a:rPr lang="ru-RU" dirty="0"/>
              <a:t>-ванную) ячейку. При копировании формулы абсолютная ссылка не из-меняется и всегда указывает на одну и туже ячейку. При записи ссылки используется знак $, например, $D$8, $F$5 и т.д. Пример формулы: =$A$2+$B$2+$C$2.</a:t>
            </a:r>
          </a:p>
        </p:txBody>
      </p:sp>
    </p:spTree>
    <p:extLst>
      <p:ext uri="{BB962C8B-B14F-4D97-AF65-F5344CB8AC3E}">
        <p14:creationId xmlns:p14="http://schemas.microsoft.com/office/powerpoint/2010/main" val="38031111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513347" y="403791"/>
            <a:ext cx="11165306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одном файле системы </a:t>
            </a:r>
            <a:r>
              <a:rPr lang="ru-RU" sz="2400" b="1" dirty="0"/>
              <a:t>Excel</a:t>
            </a:r>
            <a:r>
              <a:rPr lang="ru-RU" sz="2400" dirty="0"/>
              <a:t> (в книге) может присутствовать много листов (по умолчанию создается </a:t>
            </a:r>
            <a:r>
              <a:rPr lang="ru-RU" sz="2400" b="1" dirty="0"/>
              <a:t>3 листа</a:t>
            </a:r>
            <a:r>
              <a:rPr lang="ru-RU" sz="2400" dirty="0"/>
              <a:t>), ярлычки которых видны в </a:t>
            </a:r>
            <a:r>
              <a:rPr lang="ru-RU" sz="2400" dirty="0" smtClean="0"/>
              <a:t>нижней </a:t>
            </a:r>
            <a:r>
              <a:rPr lang="ru-RU" sz="2400" dirty="0"/>
              <a:t>части книги, минимум – один видимый лист. На ярлычках можно </a:t>
            </a:r>
            <a:r>
              <a:rPr lang="ru-RU" sz="2400" dirty="0" smtClean="0"/>
              <a:t>задать </a:t>
            </a:r>
            <a:r>
              <a:rPr lang="ru-RU" sz="2400" dirty="0"/>
              <a:t>имена листов (например</a:t>
            </a:r>
            <a:r>
              <a:rPr lang="ru-RU" sz="2400" b="1" dirty="0"/>
              <a:t>, Система </a:t>
            </a:r>
            <a:r>
              <a:rPr lang="ru-RU" sz="2400" b="1" dirty="0" err="1"/>
              <a:t>лин.ур</a:t>
            </a:r>
            <a:r>
              <a:rPr lang="ru-RU" sz="2400" b="1" dirty="0"/>
              <a:t>., График</a:t>
            </a:r>
            <a:r>
              <a:rPr lang="ru-RU" sz="2400" dirty="0"/>
              <a:t>). Листы могут быть скрытыми (см. контекстное меню ярлычков страниц). Полная ссылка на ячейку (трехмерная ссылка) состоит из имени листа и через </a:t>
            </a:r>
            <a:r>
              <a:rPr lang="ru-RU" sz="2400" dirty="0" smtClean="0"/>
              <a:t>восклицательный </a:t>
            </a:r>
            <a:r>
              <a:rPr lang="ru-RU" sz="2400" dirty="0"/>
              <a:t>знак – ссылки на ячейку: Лист3!A1 или График.D3</a:t>
            </a:r>
            <a:r>
              <a:rPr lang="ru-RU" sz="2400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185735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46255" y="1171596"/>
            <a:ext cx="1086050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Копирование формул </a:t>
            </a:r>
            <a:r>
              <a:rPr lang="ru-RU" sz="2400" dirty="0"/>
              <a:t>– характерный прием в электронных </a:t>
            </a:r>
            <a:r>
              <a:rPr lang="ru-RU" sz="2400" dirty="0" smtClean="0"/>
              <a:t>таблицах</a:t>
            </a:r>
            <a:r>
              <a:rPr lang="ru-RU" sz="2400" dirty="0"/>
              <a:t>, который позволяет выполнить одни и те же операции с группой данных (в некоторой степени – аналог циклов при работе с массивами в программах на алгоритмических языках). Именно в операциях </a:t>
            </a:r>
            <a:r>
              <a:rPr lang="ru-RU" sz="2400" dirty="0" smtClean="0"/>
              <a:t>копирования </a:t>
            </a:r>
            <a:r>
              <a:rPr lang="ru-RU" sz="2400" dirty="0"/>
              <a:t>большое значение имеет правильное использование </a:t>
            </a:r>
            <a:r>
              <a:rPr lang="ru-RU" sz="2400" b="1" dirty="0"/>
              <a:t>абсолютных</a:t>
            </a:r>
            <a:r>
              <a:rPr lang="ru-RU" sz="2400" dirty="0"/>
              <a:t> (не изменяются при копировании) и </a:t>
            </a:r>
            <a:r>
              <a:rPr lang="ru-RU" sz="2400" b="1" dirty="0"/>
              <a:t>относительных ссылок </a:t>
            </a:r>
            <a:r>
              <a:rPr lang="ru-RU" sz="2400" dirty="0"/>
              <a:t>(изменяются в </a:t>
            </a:r>
            <a:r>
              <a:rPr lang="ru-RU" sz="2400" dirty="0" smtClean="0"/>
              <a:t>соответствии </a:t>
            </a:r>
            <a:r>
              <a:rPr lang="ru-RU" sz="2400" dirty="0"/>
              <a:t>с изменением позиции формулы). Ссылка на ячейку в формуле состоит из </a:t>
            </a:r>
            <a:r>
              <a:rPr lang="ru-RU" sz="2400" b="1" dirty="0"/>
              <a:t>двух частей </a:t>
            </a:r>
            <a:r>
              <a:rPr lang="ru-RU" sz="2400" dirty="0"/>
              <a:t>– обозначение </a:t>
            </a:r>
            <a:r>
              <a:rPr lang="ru-RU" sz="2400" b="1" dirty="0"/>
              <a:t>колонки и строки</a:t>
            </a:r>
            <a:r>
              <a:rPr lang="ru-RU" sz="2400" dirty="0"/>
              <a:t>, абсолютную </a:t>
            </a:r>
            <a:r>
              <a:rPr lang="ru-RU" sz="2400" dirty="0" smtClean="0"/>
              <a:t>адресацию </a:t>
            </a:r>
            <a:r>
              <a:rPr lang="ru-RU" sz="2400" dirty="0"/>
              <a:t>можно использовать для одного из этих компонентов. </a:t>
            </a:r>
          </a:p>
        </p:txBody>
      </p:sp>
    </p:spTree>
    <p:extLst>
      <p:ext uri="{BB962C8B-B14F-4D97-AF65-F5344CB8AC3E}">
        <p14:creationId xmlns:p14="http://schemas.microsoft.com/office/powerpoint/2010/main" val="357804645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133" y="1112118"/>
            <a:ext cx="9347200" cy="5572227"/>
          </a:xfrm>
          <a:prstGeom prst="rect">
            <a:avLst/>
          </a:prstGeom>
        </p:spPr>
      </p:pic>
      <p:sp>
        <p:nvSpPr>
          <p:cNvPr id="3" name="Скругленная прямоугольная выноска 2"/>
          <p:cNvSpPr/>
          <p:nvPr/>
        </p:nvSpPr>
        <p:spPr>
          <a:xfrm>
            <a:off x="2871537" y="3481136"/>
            <a:ext cx="2358189" cy="417095"/>
          </a:xfrm>
          <a:prstGeom prst="wedgeRoundRectCallout">
            <a:avLst>
              <a:gd name="adj1" fmla="val -43788"/>
              <a:gd name="adj2" fmla="val -8863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=(B6-B5)/(B7-1)</a:t>
            </a:r>
            <a:endParaRPr lang="ru-RU" sz="2400" dirty="0"/>
          </a:p>
        </p:txBody>
      </p:sp>
      <p:sp>
        <p:nvSpPr>
          <p:cNvPr id="4" name="Скругленная прямоугольная выноска 3"/>
          <p:cNvSpPr/>
          <p:nvPr/>
        </p:nvSpPr>
        <p:spPr>
          <a:xfrm>
            <a:off x="2985910" y="4628072"/>
            <a:ext cx="7267073" cy="418955"/>
          </a:xfrm>
          <a:prstGeom prst="wedgeRoundRectCallout">
            <a:avLst>
              <a:gd name="adj1" fmla="val -51380"/>
              <a:gd name="adj2" fmla="val -12841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=$B$3*$A12^2+$B$4*B$11^2+$D$3*$A12*B$11+$D$4</a:t>
            </a:r>
            <a:endParaRPr lang="ru-RU" sz="2400" dirty="0"/>
          </a:p>
        </p:txBody>
      </p:sp>
      <p:sp>
        <p:nvSpPr>
          <p:cNvPr id="5" name="Скругленная прямоугольная выноска 4"/>
          <p:cNvSpPr/>
          <p:nvPr/>
        </p:nvSpPr>
        <p:spPr>
          <a:xfrm>
            <a:off x="3441030" y="5718169"/>
            <a:ext cx="7272125" cy="415382"/>
          </a:xfrm>
          <a:prstGeom prst="wedgeRoundRectCallout">
            <a:avLst>
              <a:gd name="adj1" fmla="val -39961"/>
              <a:gd name="adj2" fmla="val -12386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400" dirty="0"/>
              <a:t>=$B$3*$A18^2+$B$4*D$11^2+$D$3*$A18*D$11+$D$4</a:t>
            </a:r>
            <a:endParaRPr lang="ru-RU" sz="2400" dirty="0"/>
          </a:p>
        </p:txBody>
      </p:sp>
      <p:sp>
        <p:nvSpPr>
          <p:cNvPr id="6" name="Прямоугольник 5"/>
          <p:cNvSpPr/>
          <p:nvPr/>
        </p:nvSpPr>
        <p:spPr>
          <a:xfrm>
            <a:off x="722489" y="188788"/>
            <a:ext cx="10890806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Пример использования смешанных ссылок – расчет Z для поверхности вида Z = F(X, Y), где формула расчета написана один раз для Z1 = F(X1, Y1), а затем скопирована для всех остальных значений X и Y, т. е. вниз и вправо</a:t>
            </a:r>
          </a:p>
        </p:txBody>
      </p:sp>
    </p:spTree>
    <p:extLst>
      <p:ext uri="{BB962C8B-B14F-4D97-AF65-F5344CB8AC3E}">
        <p14:creationId xmlns:p14="http://schemas.microsoft.com/office/powerpoint/2010/main" val="21581293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25642" y="332147"/>
            <a:ext cx="1122947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Кроме основных функций с системой Microsoft Office поставляются </a:t>
            </a:r>
            <a:r>
              <a:rPr lang="ru-RU" sz="2400" b="1" dirty="0"/>
              <a:t>надстройки</a:t>
            </a:r>
            <a:r>
              <a:rPr lang="ru-RU" sz="2400" dirty="0"/>
              <a:t> для Excel – вспомогательные программы, служащие для </a:t>
            </a:r>
            <a:r>
              <a:rPr lang="ru-RU" sz="2400" dirty="0" smtClean="0"/>
              <a:t>использования </a:t>
            </a:r>
            <a:r>
              <a:rPr lang="ru-RU" sz="2400" dirty="0"/>
              <a:t>дополнительных возможностей </a:t>
            </a:r>
            <a:r>
              <a:rPr lang="ru-RU" sz="2400" dirty="0" smtClean="0"/>
              <a:t>, </a:t>
            </a:r>
            <a:r>
              <a:rPr lang="ru-RU" sz="2400" dirty="0"/>
              <a:t>они </a:t>
            </a:r>
            <a:r>
              <a:rPr lang="ru-RU" sz="2400" dirty="0" smtClean="0"/>
              <a:t>устанавливаются </a:t>
            </a:r>
            <a:r>
              <a:rPr lang="ru-RU" sz="2400" dirty="0"/>
              <a:t>из окна Параметры Excel, раздел Надстройки.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232" y="2152709"/>
            <a:ext cx="10619873" cy="43443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70658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632177" y="343596"/>
            <a:ext cx="11142133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В частности, пакет анализа </a:t>
            </a:r>
            <a:r>
              <a:rPr lang="ru-RU" sz="2400" dirty="0" smtClean="0"/>
              <a:t>имеет </a:t>
            </a:r>
            <a:r>
              <a:rPr lang="ru-RU" sz="2400" dirty="0"/>
              <a:t>следующие компоненты:</a:t>
            </a:r>
          </a:p>
          <a:p>
            <a:r>
              <a:rPr lang="ru-RU" sz="2400" dirty="0"/>
              <a:t>– описательная статистика;</a:t>
            </a:r>
          </a:p>
          <a:p>
            <a:r>
              <a:rPr lang="ru-RU" sz="2400" dirty="0"/>
              <a:t>– дисперсионный </a:t>
            </a:r>
            <a:r>
              <a:rPr lang="ru-RU" sz="2400" dirty="0" smtClean="0"/>
              <a:t>анализ: </a:t>
            </a:r>
            <a:r>
              <a:rPr lang="ru-RU" sz="2400" dirty="0"/>
              <a:t>однофакторный; двухфакторный с </a:t>
            </a:r>
            <a:r>
              <a:rPr lang="ru-RU" sz="2400" dirty="0" smtClean="0"/>
              <a:t>повторениями</a:t>
            </a:r>
            <a:r>
              <a:rPr lang="ru-RU" sz="2400" dirty="0"/>
              <a:t>; двухфакторный без повторений;</a:t>
            </a:r>
          </a:p>
          <a:p>
            <a:r>
              <a:rPr lang="ru-RU" sz="2400" dirty="0"/>
              <a:t>– корреляционный анализ;</a:t>
            </a:r>
          </a:p>
          <a:p>
            <a:r>
              <a:rPr lang="ru-RU" sz="2400" dirty="0"/>
              <a:t>– регрессия;</a:t>
            </a:r>
          </a:p>
          <a:p>
            <a:r>
              <a:rPr lang="ru-RU" sz="2400" dirty="0"/>
              <a:t>– ковариационный анализ;</a:t>
            </a:r>
          </a:p>
          <a:p>
            <a:r>
              <a:rPr lang="ru-RU" sz="2400" dirty="0"/>
              <a:t>– экспоненциальное сглаживание;</a:t>
            </a:r>
          </a:p>
          <a:p>
            <a:r>
              <a:rPr lang="ru-RU" sz="2400" dirty="0"/>
              <a:t>– </a:t>
            </a:r>
            <a:r>
              <a:rPr lang="ru-RU" sz="2400" dirty="0" smtClean="0"/>
              <a:t>двух выборочный </a:t>
            </a:r>
            <a:r>
              <a:rPr lang="ru-RU" sz="2400" dirty="0"/>
              <a:t>f-тест для дисперсии;</a:t>
            </a:r>
          </a:p>
          <a:p>
            <a:r>
              <a:rPr lang="ru-RU" sz="2400" dirty="0"/>
              <a:t>– анализ Фурье;</a:t>
            </a:r>
          </a:p>
          <a:p>
            <a:r>
              <a:rPr lang="ru-RU" sz="2400" dirty="0"/>
              <a:t>– гистограмма</a:t>
            </a:r>
            <a:r>
              <a:rPr lang="ru-RU" sz="2400" dirty="0" smtClean="0"/>
              <a:t>;</a:t>
            </a:r>
          </a:p>
          <a:p>
            <a:r>
              <a:rPr lang="ru-RU" sz="2400" dirty="0"/>
              <a:t>– скользящее среднее;</a:t>
            </a:r>
          </a:p>
          <a:p>
            <a:r>
              <a:rPr lang="ru-RU" sz="2400" dirty="0"/>
              <a:t>– генерация случайных чисел;</a:t>
            </a:r>
          </a:p>
          <a:p>
            <a:r>
              <a:rPr lang="ru-RU" sz="2400" dirty="0"/>
              <a:t>– ранг и </a:t>
            </a:r>
            <a:r>
              <a:rPr lang="ru-RU" sz="2400" dirty="0" err="1"/>
              <a:t>персентиль</a:t>
            </a:r>
            <a:r>
              <a:rPr lang="ru-RU" sz="2400" dirty="0"/>
              <a:t>;</a:t>
            </a:r>
          </a:p>
          <a:p>
            <a:r>
              <a:rPr lang="ru-RU" sz="2400" dirty="0"/>
              <a:t>– выборка;</a:t>
            </a:r>
          </a:p>
          <a:p>
            <a:r>
              <a:rPr lang="ru-RU" sz="2400" dirty="0"/>
              <a:t>– t-тест;</a:t>
            </a:r>
          </a:p>
          <a:p>
            <a:r>
              <a:rPr lang="ru-RU" sz="2400" dirty="0"/>
              <a:t>– z-тест.</a:t>
            </a:r>
          </a:p>
        </p:txBody>
      </p:sp>
    </p:spTree>
    <p:extLst>
      <p:ext uri="{BB962C8B-B14F-4D97-AF65-F5344CB8AC3E}">
        <p14:creationId xmlns:p14="http://schemas.microsoft.com/office/powerpoint/2010/main" val="194583269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Таблица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5813348"/>
              </p:ext>
            </p:extLst>
          </p:nvPr>
        </p:nvGraphicFramePr>
        <p:xfrm>
          <a:off x="770962" y="414866"/>
          <a:ext cx="10569390" cy="61461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84695"/>
                <a:gridCol w="5284695"/>
              </a:tblGrid>
              <a:tr h="463620"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Надстройка</a:t>
                      </a:r>
                      <a:endParaRPr lang="ru-RU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2400" dirty="0" smtClean="0"/>
                        <a:t>Описание</a:t>
                      </a:r>
                      <a:endParaRPr lang="ru-RU" sz="2400" dirty="0"/>
                    </a:p>
                  </a:txBody>
                  <a:tcPr/>
                </a:tc>
              </a:tr>
              <a:tr h="800222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Пакет анализа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Статистические, финансовые и инженерные функции</a:t>
                      </a:r>
                      <a:endParaRPr lang="ru-RU" sz="2000" dirty="0"/>
                    </a:p>
                  </a:txBody>
                  <a:tcPr/>
                </a:tc>
              </a:tr>
              <a:tr h="800222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Пакет анализа </a:t>
                      </a:r>
                      <a:r>
                        <a:rPr lang="en-US" sz="2000" dirty="0" smtClean="0"/>
                        <a:t>VBA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Позволяет разработчикам использовать синтаксис пакета анализа данных</a:t>
                      </a:r>
                      <a:endParaRPr lang="ru-RU" sz="2000" dirty="0"/>
                    </a:p>
                  </a:txBody>
                  <a:tcPr/>
                </a:tc>
              </a:tr>
              <a:tr h="46362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Мастер суммирования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Создает формулу суммирования с условием</a:t>
                      </a:r>
                      <a:endParaRPr lang="ru-RU" sz="2000" dirty="0"/>
                    </a:p>
                  </a:txBody>
                  <a:tcPr/>
                </a:tc>
              </a:tr>
              <a:tr h="463620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Пересчет в евро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функция </a:t>
                      </a:r>
                      <a:r>
                        <a:rPr lang="en-US" sz="2000" dirty="0" smtClean="0"/>
                        <a:t>EUROCONVERT </a:t>
                      </a:r>
                      <a:r>
                        <a:rPr lang="ru-RU" sz="2000" dirty="0" smtClean="0"/>
                        <a:t>для пересчета</a:t>
                      </a:r>
                      <a:endParaRPr lang="ru-RU" sz="2000" dirty="0"/>
                    </a:p>
                  </a:txBody>
                  <a:tcPr/>
                </a:tc>
              </a:tr>
              <a:tr h="1143174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Помощник по Интернету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Позволяет размещать данные Microsoft Excel в Интернете, используя синтаксис помощника по Интернету.</a:t>
                      </a:r>
                      <a:endParaRPr lang="ru-RU" sz="2000" dirty="0"/>
                    </a:p>
                  </a:txBody>
                  <a:tcPr/>
                </a:tc>
              </a:tr>
              <a:tr h="800222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Мастер подстановок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Создает формулу для поиска данных в диапазоне по другому значению в этом же диапазоне.</a:t>
                      </a:r>
                      <a:endParaRPr lang="ru-RU" sz="2000" dirty="0"/>
                    </a:p>
                  </a:txBody>
                  <a:tcPr/>
                </a:tc>
              </a:tr>
              <a:tr h="800222"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Поиск решения</a:t>
                      </a:r>
                      <a:endParaRPr lang="ru-RU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2000" dirty="0" smtClean="0"/>
                        <a:t>Вычисляет решения для сценариев «что-если» на основе ячеек перебора и ячеек ограничений.</a:t>
                      </a:r>
                      <a:endParaRPr lang="ru-RU" sz="2000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43166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40265" y="180328"/>
            <a:ext cx="11356623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/>
            <a:r>
              <a:rPr lang="ru-RU" sz="2400" dirty="0"/>
              <a:t>Методика построения диаграмм в Excel 2003 отличается от Word наличием Мастера диаграмм, в Excel 2007 Мастер отсутствует, но есть множество </a:t>
            </a:r>
            <a:r>
              <a:rPr lang="ru-RU" sz="2400" b="1" dirty="0"/>
              <a:t>Экспресс-макетов</a:t>
            </a:r>
            <a:r>
              <a:rPr lang="ru-RU" sz="2400" dirty="0"/>
              <a:t> и </a:t>
            </a:r>
            <a:r>
              <a:rPr lang="ru-RU" sz="2400" b="1" dirty="0"/>
              <a:t>Экспресс-стилей</a:t>
            </a:r>
            <a:r>
              <a:rPr lang="ru-RU" sz="2400" dirty="0"/>
              <a:t>. Для построения </a:t>
            </a:r>
            <a:r>
              <a:rPr lang="ru-RU" sz="2400" dirty="0" smtClean="0"/>
              <a:t>диаграммы </a:t>
            </a:r>
            <a:r>
              <a:rPr lang="ru-RU" sz="2400" dirty="0"/>
              <a:t>рекомендуется предварительно выбрать группу ячеек – источник данных, далее дать команду </a:t>
            </a:r>
            <a:r>
              <a:rPr lang="ru-RU" sz="2400" b="1" dirty="0"/>
              <a:t>Вставка ► </a:t>
            </a:r>
            <a:r>
              <a:rPr lang="ru-RU" sz="2400" b="1" dirty="0" smtClean="0"/>
              <a:t>Диаграмма</a:t>
            </a:r>
            <a:endParaRPr lang="ru-RU" sz="2400" dirty="0" smtClean="0"/>
          </a:p>
          <a:p>
            <a:pPr indent="541338"/>
            <a:r>
              <a:rPr lang="ru-RU" sz="2400" dirty="0" smtClean="0"/>
              <a:t>Мастер </a:t>
            </a:r>
            <a:r>
              <a:rPr lang="ru-RU" sz="2400" dirty="0"/>
              <a:t>диаграмм позволяет пошагово задать следующие основные свойства диаграммы</a:t>
            </a:r>
            <a:r>
              <a:rPr lang="ru-RU" sz="2400" dirty="0" smtClean="0"/>
              <a:t>:</a:t>
            </a:r>
          </a:p>
          <a:p>
            <a:pPr indent="541338"/>
            <a:r>
              <a:rPr lang="ru-RU" sz="2400" dirty="0" smtClean="0"/>
              <a:t>1</a:t>
            </a:r>
            <a:r>
              <a:rPr lang="ru-RU" sz="2400" dirty="0"/>
              <a:t>) </a:t>
            </a:r>
            <a:r>
              <a:rPr lang="ru-RU" sz="2400" b="1" dirty="0"/>
              <a:t>тип </a:t>
            </a:r>
            <a:r>
              <a:rPr lang="ru-RU" sz="2400" b="1" dirty="0" smtClean="0"/>
              <a:t>диаграммы:</a:t>
            </a:r>
            <a:endParaRPr lang="ru-RU" sz="2400" b="1" dirty="0"/>
          </a:p>
          <a:p>
            <a:r>
              <a:rPr lang="ru-RU" sz="2400" dirty="0"/>
              <a:t>a) </a:t>
            </a:r>
            <a:r>
              <a:rPr lang="ru-RU" sz="2400" b="1" dirty="0"/>
              <a:t>Точечная</a:t>
            </a:r>
            <a:r>
              <a:rPr lang="ru-RU" sz="2400" dirty="0"/>
              <a:t> – позволяет показать зависимость Y = F(X), даже если </a:t>
            </a:r>
            <a:r>
              <a:rPr lang="ru-RU" sz="2400" dirty="0" smtClean="0"/>
              <a:t>точки </a:t>
            </a:r>
            <a:r>
              <a:rPr lang="ru-RU" sz="2400" dirty="0"/>
              <a:t>по оси X заданы с неравномерным шагом (один из рядов – значения X, другие – Y1, Y2…), причем есть возможность показать кривую, проходящую по точкам, с ее сглаживанием или линию тренда (аппроксимация данных экспоненциальной, линейной, </a:t>
            </a:r>
            <a:r>
              <a:rPr lang="ru-RU" sz="2400" dirty="0" smtClean="0"/>
              <a:t>логарифмической</a:t>
            </a:r>
            <a:r>
              <a:rPr lang="ru-RU" sz="2400" dirty="0"/>
              <a:t>, полиномиальной или степенной функциями);</a:t>
            </a:r>
          </a:p>
          <a:p>
            <a:r>
              <a:rPr lang="ru-RU" sz="2400" dirty="0"/>
              <a:t>b) </a:t>
            </a:r>
            <a:r>
              <a:rPr lang="ru-RU" sz="2400" b="1" dirty="0"/>
              <a:t>Поверхность</a:t>
            </a:r>
            <a:r>
              <a:rPr lang="ru-RU" sz="2400" dirty="0"/>
              <a:t> – зависимость Z = F(X, Y</a:t>
            </a:r>
            <a:r>
              <a:rPr lang="ru-RU" sz="2400" dirty="0" smtClean="0"/>
              <a:t>);</a:t>
            </a:r>
            <a:endParaRPr lang="ru-RU" sz="2400" dirty="0"/>
          </a:p>
          <a:p>
            <a:r>
              <a:rPr lang="ru-RU" sz="2400" dirty="0"/>
              <a:t>c) </a:t>
            </a:r>
            <a:r>
              <a:rPr lang="ru-RU" sz="2400" b="1" dirty="0"/>
              <a:t>Гистограмма, Линейчатая, График </a:t>
            </a:r>
            <a:r>
              <a:rPr lang="ru-RU" sz="2400" dirty="0"/>
              <a:t>– диаграммы с </a:t>
            </a:r>
            <a:r>
              <a:rPr lang="ru-RU" sz="2400" dirty="0" smtClean="0"/>
              <a:t>равномерным </a:t>
            </a:r>
            <a:r>
              <a:rPr lang="ru-RU" sz="2400" dirty="0"/>
              <a:t>распределением данных по оси X (ось категорий), все </a:t>
            </a:r>
            <a:r>
              <a:rPr lang="ru-RU" sz="2400" dirty="0" smtClean="0"/>
              <a:t>ряды </a:t>
            </a:r>
            <a:r>
              <a:rPr lang="ru-RU" sz="2400" dirty="0"/>
              <a:t>– значения по оси Y (ось значений).</a:t>
            </a:r>
          </a:p>
        </p:txBody>
      </p:sp>
    </p:spTree>
    <p:extLst>
      <p:ext uri="{BB962C8B-B14F-4D97-AF65-F5344CB8AC3E}">
        <p14:creationId xmlns:p14="http://schemas.microsoft.com/office/powerpoint/2010/main" val="1557024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78932" y="165165"/>
            <a:ext cx="10679289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/>
            <a:r>
              <a:rPr lang="ru-RU" sz="2400" b="1" dirty="0"/>
              <a:t>источник данных диаграммы </a:t>
            </a:r>
            <a:r>
              <a:rPr lang="ru-RU" sz="2400" dirty="0"/>
              <a:t>– если заранее выбран диапазон </a:t>
            </a:r>
            <a:r>
              <a:rPr lang="ru-RU" sz="2400" dirty="0" smtClean="0"/>
              <a:t>данных</a:t>
            </a:r>
            <a:r>
              <a:rPr lang="ru-RU" sz="2400" dirty="0"/>
              <a:t>, при построении будут использованы ссылки на эти данные, при этом следует учитывать следующее:</a:t>
            </a:r>
          </a:p>
          <a:p>
            <a:r>
              <a:rPr lang="ru-RU" sz="2400" dirty="0"/>
              <a:t>a) </a:t>
            </a:r>
            <a:r>
              <a:rPr lang="ru-RU" sz="2400" b="1" dirty="0"/>
              <a:t>ряды данных </a:t>
            </a:r>
            <a:r>
              <a:rPr lang="ru-RU" sz="2400" dirty="0"/>
              <a:t>могут быть расположены в колонках или столбцах;</a:t>
            </a:r>
          </a:p>
          <a:p>
            <a:r>
              <a:rPr lang="ru-RU" sz="2400" dirty="0"/>
              <a:t>b) </a:t>
            </a:r>
            <a:r>
              <a:rPr lang="ru-RU" sz="2400" b="1" dirty="0"/>
              <a:t>при построении поверхности </a:t>
            </a:r>
            <a:r>
              <a:rPr lang="ru-RU" sz="2400" dirty="0"/>
              <a:t>– если клетка в пересечении столбца значений X и строки значений Y пустая </a:t>
            </a:r>
            <a:r>
              <a:rPr lang="ru-RU" sz="2400" dirty="0" smtClean="0"/>
              <a:t>в </a:t>
            </a:r>
            <a:r>
              <a:rPr lang="ru-RU" sz="2400" dirty="0"/>
              <a:t>область данных можно включать значения X и Y, которые будут использованы, как обозначения по этим осям</a:t>
            </a:r>
            <a:r>
              <a:rPr lang="ru-RU" sz="2400" dirty="0" smtClean="0"/>
              <a:t>;</a:t>
            </a:r>
          </a:p>
          <a:p>
            <a:endParaRPr lang="ru-RU" sz="2400" dirty="0"/>
          </a:p>
          <a:p>
            <a:pPr indent="541338"/>
            <a:r>
              <a:rPr lang="ru-RU" sz="2400" b="1" dirty="0" smtClean="0"/>
              <a:t>параметры </a:t>
            </a:r>
            <a:r>
              <a:rPr lang="ru-RU" sz="2400" b="1" dirty="0"/>
              <a:t>диаграммы </a:t>
            </a:r>
            <a:r>
              <a:rPr lang="ru-RU" sz="2400" dirty="0"/>
              <a:t>– название, подписи по осям, показ линий сетки и пр</a:t>
            </a:r>
            <a:r>
              <a:rPr lang="ru-RU" sz="2400" dirty="0" smtClean="0"/>
              <a:t>.</a:t>
            </a:r>
          </a:p>
          <a:p>
            <a:pPr indent="541338"/>
            <a:r>
              <a:rPr lang="ru-RU" sz="2400" b="1" dirty="0" smtClean="0"/>
              <a:t>размещение </a:t>
            </a:r>
            <a:r>
              <a:rPr lang="ru-RU" sz="2400" b="1" dirty="0"/>
              <a:t>диаграммы </a:t>
            </a:r>
            <a:r>
              <a:rPr lang="ru-RU" sz="2400" dirty="0"/>
              <a:t>– на текущем листе или на новом.</a:t>
            </a:r>
          </a:p>
        </p:txBody>
      </p:sp>
      <p:sp>
        <p:nvSpPr>
          <p:cNvPr id="3" name="Прямоугольник 2"/>
          <p:cNvSpPr/>
          <p:nvPr/>
        </p:nvSpPr>
        <p:spPr>
          <a:xfrm>
            <a:off x="778932" y="4668925"/>
            <a:ext cx="1065671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После создания диаграммы все ее элементы дополнительно можно </a:t>
            </a:r>
            <a:r>
              <a:rPr lang="ru-RU" sz="2400" dirty="0" smtClean="0"/>
              <a:t>отредактировать </a:t>
            </a:r>
            <a:r>
              <a:rPr lang="ru-RU" sz="2400" dirty="0"/>
              <a:t>на самой диаграмме или настроить с помощью контекстной ленты </a:t>
            </a:r>
            <a:r>
              <a:rPr lang="ru-RU" sz="2400" b="1" dirty="0"/>
              <a:t>Работа с </a:t>
            </a:r>
            <a:r>
              <a:rPr lang="ru-RU" sz="2400" b="1" dirty="0" smtClean="0"/>
              <a:t>диаграммами</a:t>
            </a:r>
            <a:r>
              <a:rPr lang="ru-RU" sz="2400" dirty="0" smtClean="0"/>
              <a:t>, </a:t>
            </a:r>
            <a:r>
              <a:rPr lang="ru-RU" sz="2400" dirty="0"/>
              <a:t>которая имеет 3 вкладки:</a:t>
            </a:r>
            <a:r>
              <a:rPr lang="ru-RU" sz="2400" b="1" dirty="0"/>
              <a:t> Конструктор, Макет и Формат</a:t>
            </a:r>
            <a:r>
              <a:rPr lang="ru-RU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39129501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7867" y="128982"/>
            <a:ext cx="7382933" cy="6423377"/>
          </a:xfrm>
          <a:prstGeom prst="rect">
            <a:avLst/>
          </a:prstGeom>
        </p:spPr>
      </p:pic>
      <p:sp>
        <p:nvSpPr>
          <p:cNvPr id="3" name="Прямоугольник 2"/>
          <p:cNvSpPr/>
          <p:nvPr/>
        </p:nvSpPr>
        <p:spPr>
          <a:xfrm>
            <a:off x="485422" y="117693"/>
            <a:ext cx="3612445" cy="67403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На диаграмму можно добавить новые </a:t>
            </a:r>
            <a:r>
              <a:rPr lang="ru-RU" sz="2400" dirty="0" smtClean="0"/>
              <a:t>графические </a:t>
            </a:r>
            <a:r>
              <a:rPr lang="ru-RU" sz="2400" dirty="0"/>
              <a:t>объекты ленты </a:t>
            </a:r>
            <a:r>
              <a:rPr lang="ru-RU" sz="2400" b="1" dirty="0" smtClean="0"/>
              <a:t>Вставка</a:t>
            </a:r>
          </a:p>
          <a:p>
            <a:endParaRPr lang="ru-RU" sz="2400" b="1" dirty="0" smtClean="0"/>
          </a:p>
          <a:p>
            <a:r>
              <a:rPr lang="ru-RU" sz="2400" b="1" dirty="0" smtClean="0"/>
              <a:t>Векторные </a:t>
            </a:r>
            <a:r>
              <a:rPr lang="ru-RU" sz="2400" b="1" dirty="0"/>
              <a:t>фигуры </a:t>
            </a:r>
            <a:r>
              <a:rPr lang="ru-RU" sz="2400" dirty="0"/>
              <a:t>(ленты </a:t>
            </a:r>
            <a:r>
              <a:rPr lang="ru-RU" sz="2400" b="1" dirty="0"/>
              <a:t>Вставка</a:t>
            </a:r>
            <a:r>
              <a:rPr lang="ru-RU" sz="2400" dirty="0"/>
              <a:t> ► </a:t>
            </a:r>
            <a:r>
              <a:rPr lang="ru-RU" sz="2400" b="1" dirty="0"/>
              <a:t>Иллюстрации ► Фигуры</a:t>
            </a:r>
            <a:r>
              <a:rPr lang="ru-RU" sz="2400" dirty="0"/>
              <a:t>) или панели </a:t>
            </a:r>
            <a:r>
              <a:rPr lang="ru-RU" sz="2400" b="1" dirty="0"/>
              <a:t>Рисование</a:t>
            </a:r>
            <a:r>
              <a:rPr lang="ru-RU" sz="2400" dirty="0"/>
              <a:t> (кроме линий) могут содержать текст или </a:t>
            </a:r>
            <a:r>
              <a:rPr lang="ru-RU" sz="2400" b="1" dirty="0"/>
              <a:t>ссылку на ячейку листа </a:t>
            </a:r>
            <a:r>
              <a:rPr lang="ru-RU" sz="2400" dirty="0"/>
              <a:t>Excel, что можно использовать, например, в оформлении различных схем, отображающих числа таблицы исходных данных</a:t>
            </a:r>
          </a:p>
        </p:txBody>
      </p:sp>
      <p:sp>
        <p:nvSpPr>
          <p:cNvPr id="4" name="Выноска 2 3"/>
          <p:cNvSpPr/>
          <p:nvPr/>
        </p:nvSpPr>
        <p:spPr>
          <a:xfrm>
            <a:off x="4097867" y="2912533"/>
            <a:ext cx="1704621" cy="1061155"/>
          </a:xfrm>
          <a:prstGeom prst="borderCallout2">
            <a:avLst>
              <a:gd name="adj1" fmla="val 50329"/>
              <a:gd name="adj2" fmla="val 99479"/>
              <a:gd name="adj3" fmla="val 49029"/>
              <a:gd name="adj4" fmla="val 112598"/>
              <a:gd name="adj5" fmla="val 566"/>
              <a:gd name="adj6" fmla="val 1305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Прямоугольник </a:t>
            </a:r>
            <a:r>
              <a:rPr lang="ru-RU" sz="1600" dirty="0"/>
              <a:t>со ссылкой =$</a:t>
            </a:r>
            <a:r>
              <a:rPr lang="en-US" sz="1600" dirty="0"/>
              <a:t>G$6</a:t>
            </a:r>
            <a:endParaRPr lang="ru-RU" sz="1600" dirty="0"/>
          </a:p>
        </p:txBody>
      </p:sp>
      <p:sp>
        <p:nvSpPr>
          <p:cNvPr id="6" name="Выноска 2 5"/>
          <p:cNvSpPr/>
          <p:nvPr/>
        </p:nvSpPr>
        <p:spPr>
          <a:xfrm>
            <a:off x="9544756" y="3222977"/>
            <a:ext cx="1704621" cy="1061155"/>
          </a:xfrm>
          <a:prstGeom prst="borderCallout2">
            <a:avLst>
              <a:gd name="adj1" fmla="val 49265"/>
              <a:gd name="adj2" fmla="val -521"/>
              <a:gd name="adj3" fmla="val 49029"/>
              <a:gd name="adj4" fmla="val -20515"/>
              <a:gd name="adj5" fmla="val 18651"/>
              <a:gd name="adj6" fmla="val -2773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600" dirty="0" smtClean="0"/>
              <a:t>Прямоугольник со ссылкой</a:t>
            </a:r>
          </a:p>
          <a:p>
            <a:pPr algn="ctr"/>
            <a:r>
              <a:rPr lang="en-US" sz="1600" dirty="0"/>
              <a:t>=$G$7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218407954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044" y="711201"/>
            <a:ext cx="6807199" cy="5418666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259644" y="0"/>
            <a:ext cx="4978400" cy="63709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361950"/>
            <a:r>
              <a:rPr lang="ru-RU" sz="2400" dirty="0"/>
              <a:t>показан пример использования </a:t>
            </a:r>
            <a:r>
              <a:rPr lang="ru-RU" sz="2400" b="1" dirty="0"/>
              <a:t>матричных функций </a:t>
            </a:r>
            <a:r>
              <a:rPr lang="ru-RU" sz="2400" dirty="0"/>
              <a:t>и </a:t>
            </a:r>
            <a:r>
              <a:rPr lang="ru-RU" sz="2400" b="1" i="1" dirty="0"/>
              <a:t>логической функции </a:t>
            </a:r>
            <a:r>
              <a:rPr lang="ru-RU" sz="2400" b="1" i="1" dirty="0" smtClean="0"/>
              <a:t>ЕСЛИ</a:t>
            </a:r>
            <a:r>
              <a:rPr lang="ru-RU" sz="2400" dirty="0" smtClean="0"/>
              <a:t>(</a:t>
            </a:r>
            <a:r>
              <a:rPr lang="ru-RU" sz="2400" b="1" i="1" dirty="0" smtClean="0"/>
              <a:t>логическое выражение; </a:t>
            </a:r>
            <a:r>
              <a:rPr lang="ru-RU" sz="2400" b="1" i="1" dirty="0"/>
              <a:t>значение1; </a:t>
            </a:r>
            <a:r>
              <a:rPr lang="ru-RU" sz="2400" b="1" i="1" dirty="0" smtClean="0"/>
              <a:t>значение2</a:t>
            </a:r>
            <a:r>
              <a:rPr lang="ru-RU" sz="2400" dirty="0"/>
              <a:t>), которая возвращает (показывает в ячейке, где она находится) </a:t>
            </a:r>
            <a:r>
              <a:rPr lang="ru-RU" sz="2400" b="1" dirty="0"/>
              <a:t>значение1</a:t>
            </a:r>
            <a:r>
              <a:rPr lang="ru-RU" sz="2400" dirty="0"/>
              <a:t>, если </a:t>
            </a:r>
            <a:r>
              <a:rPr lang="ru-RU" sz="2400" dirty="0" smtClean="0"/>
              <a:t>логическое выражение </a:t>
            </a:r>
            <a:r>
              <a:rPr lang="ru-RU" sz="2400" dirty="0"/>
              <a:t>истинно или </a:t>
            </a:r>
            <a:r>
              <a:rPr lang="ru-RU" sz="2400" b="1" dirty="0"/>
              <a:t>значение2</a:t>
            </a:r>
            <a:r>
              <a:rPr lang="ru-RU" sz="2400" dirty="0"/>
              <a:t>, если </a:t>
            </a:r>
            <a:r>
              <a:rPr lang="ru-RU" sz="2400" dirty="0" smtClean="0"/>
              <a:t>логическое выражение </a:t>
            </a:r>
            <a:r>
              <a:rPr lang="ru-RU" sz="2400" dirty="0"/>
              <a:t>ложно</a:t>
            </a:r>
            <a:r>
              <a:rPr lang="ru-RU" sz="2400" dirty="0" smtClean="0"/>
              <a:t>.</a:t>
            </a:r>
          </a:p>
          <a:p>
            <a:pPr indent="361950"/>
            <a:r>
              <a:rPr lang="ru-RU" sz="2400" dirty="0"/>
              <a:t>В примере функция </a:t>
            </a:r>
            <a:endParaRPr lang="ru-RU" sz="2400" dirty="0" smtClean="0"/>
          </a:p>
          <a:p>
            <a:r>
              <a:rPr lang="ru-RU" sz="2400" b="1" dirty="0" smtClean="0"/>
              <a:t>ЕСЛИ(E5&lt;0</a:t>
            </a:r>
            <a:r>
              <a:rPr lang="ru-RU" sz="2400" b="1" dirty="0"/>
              <a:t>;"-";"+"), </a:t>
            </a:r>
            <a:r>
              <a:rPr lang="ru-RU" sz="2400" dirty="0"/>
              <a:t>записанная в ячейке D5 показывает в этой ячейке минус или плюс в зависимости от того, </a:t>
            </a:r>
            <a:r>
              <a:rPr lang="ru-RU" sz="2400" dirty="0" smtClean="0"/>
              <a:t>отрицательное </a:t>
            </a:r>
            <a:r>
              <a:rPr lang="ru-RU" sz="2400" dirty="0"/>
              <a:t>или нет число записано в соседней справа клетке </a:t>
            </a:r>
            <a:r>
              <a:rPr lang="ru-RU" sz="2400" dirty="0" smtClean="0"/>
              <a:t>E5(</a:t>
            </a:r>
            <a:r>
              <a:rPr lang="ru-RU" sz="2000" dirty="0" smtClean="0"/>
              <a:t>для </a:t>
            </a:r>
            <a:r>
              <a:rPr lang="ru-RU" sz="2000" dirty="0"/>
              <a:t>числа </a:t>
            </a:r>
            <a:r>
              <a:rPr lang="ru-RU" sz="2000" dirty="0" smtClean="0"/>
              <a:t>задан </a:t>
            </a:r>
            <a:r>
              <a:rPr lang="ru-RU" sz="2000" dirty="0"/>
              <a:t>формат без знака</a:t>
            </a:r>
            <a:r>
              <a:rPr lang="ru-RU" sz="24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22453454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06400" y="515962"/>
            <a:ext cx="11255022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541338"/>
            <a:r>
              <a:rPr lang="ru-RU" sz="2400" b="1" dirty="0"/>
              <a:t>Защита листа </a:t>
            </a:r>
            <a:r>
              <a:rPr lang="ru-RU" sz="2400" dirty="0"/>
              <a:t>– заключительная стадия подготовки электронной таблицы к дальнейшему использованию. Достаточно часто подготовленная электронная таблица является шаблоном и служит для расчетов с </a:t>
            </a:r>
            <a:r>
              <a:rPr lang="ru-RU" sz="2400" dirty="0" smtClean="0"/>
              <a:t>различными </a:t>
            </a:r>
            <a:r>
              <a:rPr lang="ru-RU" sz="2400" dirty="0"/>
              <a:t>исходными данными. В этом случае доступными для </a:t>
            </a:r>
            <a:r>
              <a:rPr lang="ru-RU" sz="2400" dirty="0" smtClean="0"/>
              <a:t>редактирования </a:t>
            </a:r>
            <a:r>
              <a:rPr lang="ru-RU" sz="2400" dirty="0"/>
              <a:t>должны быть только ячейки исходных данных, остальные необходимо защитить от редактирования. </a:t>
            </a:r>
            <a:endParaRPr lang="ru-RU" sz="2400" dirty="0" smtClean="0"/>
          </a:p>
          <a:p>
            <a:pPr indent="541338"/>
            <a:r>
              <a:rPr lang="ru-RU" sz="2400" dirty="0" smtClean="0"/>
              <a:t>По </a:t>
            </a:r>
            <a:r>
              <a:rPr lang="ru-RU" sz="2400" dirty="0"/>
              <a:t>умолчанию стиль </a:t>
            </a:r>
            <a:r>
              <a:rPr lang="ru-RU" sz="2400" b="1" dirty="0"/>
              <a:t>Обычный</a:t>
            </a:r>
            <a:r>
              <a:rPr lang="ru-RU" sz="2400" dirty="0"/>
              <a:t> имеет </a:t>
            </a:r>
            <a:r>
              <a:rPr lang="ru-RU" sz="2400" dirty="0" smtClean="0"/>
              <a:t>параметр </a:t>
            </a:r>
            <a:r>
              <a:rPr lang="ru-RU" sz="2400" b="1" dirty="0" smtClean="0"/>
              <a:t>Заблокировано</a:t>
            </a:r>
            <a:r>
              <a:rPr lang="ru-RU" sz="2400" dirty="0" smtClean="0"/>
              <a:t>. Поэтому </a:t>
            </a:r>
            <a:r>
              <a:rPr lang="ru-RU" sz="2400" dirty="0"/>
              <a:t>в свойствах ячеек, которые предполагается изменять (окно </a:t>
            </a:r>
            <a:r>
              <a:rPr lang="ru-RU" sz="2400" b="1" dirty="0"/>
              <a:t>Формат ячеек</a:t>
            </a:r>
            <a:r>
              <a:rPr lang="ru-RU" sz="2400" dirty="0"/>
              <a:t>, вкладка </a:t>
            </a:r>
            <a:r>
              <a:rPr lang="ru-RU" sz="2400" b="1" dirty="0"/>
              <a:t>Защита</a:t>
            </a:r>
            <a:r>
              <a:rPr lang="ru-RU" sz="2400" dirty="0"/>
              <a:t> следует снять пометку </a:t>
            </a:r>
            <a:r>
              <a:rPr lang="ru-RU" sz="2400" b="1" dirty="0"/>
              <a:t>Защищаемая ячейка </a:t>
            </a:r>
            <a:r>
              <a:rPr lang="ru-RU" sz="2400" dirty="0"/>
              <a:t>или на ленте </a:t>
            </a:r>
            <a:r>
              <a:rPr lang="ru-RU" sz="2400" b="1" dirty="0"/>
              <a:t>Главная</a:t>
            </a:r>
            <a:r>
              <a:rPr lang="ru-RU" sz="2400" dirty="0"/>
              <a:t> ► группа </a:t>
            </a:r>
            <a:r>
              <a:rPr lang="ru-RU" sz="2400" b="1" dirty="0"/>
              <a:t>Ячейки</a:t>
            </a:r>
            <a:r>
              <a:rPr lang="ru-RU" sz="2400" dirty="0"/>
              <a:t> ► список </a:t>
            </a:r>
            <a:r>
              <a:rPr lang="ru-RU" sz="2400" b="1" dirty="0"/>
              <a:t>Формат</a:t>
            </a:r>
            <a:r>
              <a:rPr lang="ru-RU" sz="2400" dirty="0"/>
              <a:t> ► выключить пункт </a:t>
            </a:r>
            <a:r>
              <a:rPr lang="ru-RU" sz="2400" b="1" dirty="0"/>
              <a:t>Блокировать ячейку</a:t>
            </a:r>
            <a:r>
              <a:rPr lang="ru-RU" sz="2400" dirty="0"/>
              <a:t>). Затем </a:t>
            </a:r>
            <a:r>
              <a:rPr lang="ru-RU" sz="2400" dirty="0" smtClean="0"/>
              <a:t>для </a:t>
            </a:r>
            <a:r>
              <a:rPr lang="ru-RU" sz="2400" dirty="0"/>
              <a:t>Excel 2007 в том же списке </a:t>
            </a:r>
            <a:r>
              <a:rPr lang="ru-RU" sz="2400" b="1" dirty="0"/>
              <a:t>Формат</a:t>
            </a:r>
            <a:r>
              <a:rPr lang="ru-RU" sz="2400" dirty="0"/>
              <a:t>, что и ранее для блокировки ячеек, выбрать команду </a:t>
            </a:r>
            <a:r>
              <a:rPr lang="ru-RU" sz="2400" b="1" dirty="0"/>
              <a:t>Защитить лист</a:t>
            </a:r>
            <a:r>
              <a:rPr lang="ru-RU" sz="2400" dirty="0"/>
              <a:t>… и в окне </a:t>
            </a:r>
            <a:r>
              <a:rPr lang="ru-RU" sz="2400" b="1" dirty="0"/>
              <a:t>Защита листа </a:t>
            </a:r>
            <a:r>
              <a:rPr lang="ru-RU" sz="2400" dirty="0"/>
              <a:t>оставить </a:t>
            </a:r>
            <a:r>
              <a:rPr lang="ru-RU" sz="2400" dirty="0" smtClean="0"/>
              <a:t>галочку </a:t>
            </a:r>
            <a:r>
              <a:rPr lang="ru-RU" sz="2400" dirty="0"/>
              <a:t>только у пункта </a:t>
            </a:r>
            <a:r>
              <a:rPr lang="ru-RU" sz="2400" b="1" dirty="0"/>
              <a:t>Разрешить</a:t>
            </a:r>
            <a:r>
              <a:rPr lang="ru-RU" sz="2400" dirty="0"/>
              <a:t>… Выделение незаблокированных ячеек. После этого курсор на листе таблицы сможет перемещаться только по незащищенным ячейкам. При этом можно также задать пароль для </a:t>
            </a:r>
            <a:r>
              <a:rPr lang="ru-RU" sz="2400" dirty="0" smtClean="0"/>
              <a:t>снятия </a:t>
            </a:r>
            <a:r>
              <a:rPr lang="ru-RU" sz="2400" dirty="0"/>
              <a:t>защиты, которая выполняется таким же образом, как и ее установка.</a:t>
            </a:r>
          </a:p>
        </p:txBody>
      </p:sp>
    </p:spTree>
    <p:extLst>
      <p:ext uri="{BB962C8B-B14F-4D97-AF65-F5344CB8AC3E}">
        <p14:creationId xmlns:p14="http://schemas.microsoft.com/office/powerpoint/2010/main" val="378962359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428978" y="564993"/>
            <a:ext cx="1144693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/>
              <a:t>Печать листа</a:t>
            </a:r>
            <a:r>
              <a:rPr lang="ru-RU" sz="2400" dirty="0"/>
              <a:t>. Система Excel предоставляет большие возможности по настройке печати. Для выбранного формата бумаги можно напечатать лист или заданную область печати в любом масштабе. Настройка </a:t>
            </a:r>
            <a:r>
              <a:rPr lang="ru-RU" sz="2400" dirty="0" smtClean="0"/>
              <a:t>выполняется </a:t>
            </a:r>
            <a:r>
              <a:rPr lang="ru-RU" sz="2400" dirty="0"/>
              <a:t>в окне </a:t>
            </a:r>
            <a:r>
              <a:rPr lang="ru-RU" sz="2400" b="1" dirty="0"/>
              <a:t>Параметры </a:t>
            </a:r>
            <a:r>
              <a:rPr lang="ru-RU" sz="2400" dirty="0"/>
              <a:t>страницы или на вкладке </a:t>
            </a:r>
            <a:r>
              <a:rPr lang="ru-RU" sz="2400" b="1" dirty="0"/>
              <a:t>Разметка страницы</a:t>
            </a:r>
          </a:p>
        </p:txBody>
      </p:sp>
      <p:pic>
        <p:nvPicPr>
          <p:cNvPr id="3" name="Рисунок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978" y="2134653"/>
            <a:ext cx="10961511" cy="1488240"/>
          </a:xfrm>
          <a:prstGeom prst="rect">
            <a:avLst/>
          </a:prstGeom>
        </p:spPr>
      </p:pic>
      <p:sp>
        <p:nvSpPr>
          <p:cNvPr id="4" name="Прямоугольник 3"/>
          <p:cNvSpPr/>
          <p:nvPr/>
        </p:nvSpPr>
        <p:spPr>
          <a:xfrm>
            <a:off x="564444" y="3985526"/>
            <a:ext cx="10826045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Например, для документа, занимающего лист формата А4 при </a:t>
            </a:r>
            <a:r>
              <a:rPr lang="ru-RU" sz="2400" dirty="0" smtClean="0"/>
              <a:t>масштабе </a:t>
            </a:r>
            <a:r>
              <a:rPr lang="ru-RU" sz="2400" dirty="0"/>
              <a:t>100%, можно задать масштаб 200%, при этом документ будет </a:t>
            </a:r>
            <a:r>
              <a:rPr lang="ru-RU" sz="2400" dirty="0" smtClean="0"/>
              <a:t>напечатан </a:t>
            </a:r>
            <a:r>
              <a:rPr lang="ru-RU" sz="2400" dirty="0"/>
              <a:t>на четырех листах формата А4, все изображение соответственно увеличится в 2 раза. Этот прием может быть использован для печати </a:t>
            </a:r>
            <a:r>
              <a:rPr lang="ru-RU" sz="2400" dirty="0" smtClean="0"/>
              <a:t>небольших </a:t>
            </a:r>
            <a:r>
              <a:rPr lang="ru-RU" sz="2400" dirty="0"/>
              <a:t>плакатов с расчетными данными.</a:t>
            </a:r>
          </a:p>
        </p:txBody>
      </p:sp>
    </p:spTree>
    <p:extLst>
      <p:ext uri="{BB962C8B-B14F-4D97-AF65-F5344CB8AC3E}">
        <p14:creationId xmlns:p14="http://schemas.microsoft.com/office/powerpoint/2010/main" val="130715311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3374</Words>
  <Application>Microsoft Office PowerPoint</Application>
  <PresentationFormat>Широкоэкранный</PresentationFormat>
  <Paragraphs>312</Paragraphs>
  <Slides>38</Slides>
  <Notes>14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4" baseType="lpstr">
      <vt:lpstr>Arial</vt:lpstr>
      <vt:lpstr>Calibri</vt:lpstr>
      <vt:lpstr>Calibri Light</vt:lpstr>
      <vt:lpstr>Times New Roman</vt:lpstr>
      <vt:lpstr>YS Text</vt:lpstr>
      <vt:lpstr>Тема Office</vt:lpstr>
      <vt:lpstr>EXCEL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Студент</dc:creator>
  <cp:lastModifiedBy>Карнаухова Инна Владимировна</cp:lastModifiedBy>
  <cp:revision>38</cp:revision>
  <dcterms:created xsi:type="dcterms:W3CDTF">2019-02-13T07:49:04Z</dcterms:created>
  <dcterms:modified xsi:type="dcterms:W3CDTF">2024-10-24T10:16:20Z</dcterms:modified>
</cp:coreProperties>
</file>