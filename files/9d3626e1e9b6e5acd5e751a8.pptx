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7" r:id="rId14"/>
    <p:sldId id="273" r:id="rId15"/>
    <p:sldId id="268" r:id="rId16"/>
    <p:sldId id="274" r:id="rId17"/>
    <p:sldId id="275" r:id="rId18"/>
    <p:sldId id="276" r:id="rId19"/>
    <p:sldId id="277" r:id="rId20"/>
    <p:sldId id="269" r:id="rId21"/>
    <p:sldId id="270" r:id="rId22"/>
    <p:sldId id="278" r:id="rId23"/>
    <p:sldId id="279" r:id="rId24"/>
    <p:sldId id="271" r:id="rId25"/>
    <p:sldId id="280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01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009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8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63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71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66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61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37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98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375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481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629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31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172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084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027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25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FBAA9BC-24C3-4755-B850-F21D94248D1C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C5436FE-CBC3-4219-80EB-E4F05C0D4F9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90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Введение в цифровую культуру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60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12124"/>
            <a:ext cx="10515600" cy="5764839"/>
          </a:xfrm>
        </p:spPr>
        <p:txBody>
          <a:bodyPr>
            <a:normAutofit fontScale="92500" lnSpcReduction="10000"/>
          </a:bodyPr>
          <a:lstStyle/>
          <a:p>
            <a:endParaRPr lang="ru-RU" dirty="0"/>
          </a:p>
          <a:p>
            <a:pPr marL="0" indent="0">
              <a:buNone/>
            </a:pPr>
            <a:r>
              <a:rPr lang="ru-RU" sz="4700" b="1" dirty="0" smtClean="0">
                <a:solidFill>
                  <a:schemeClr val="bg1"/>
                </a:solidFill>
              </a:rPr>
              <a:t>Цифровая культура </a:t>
            </a:r>
          </a:p>
          <a:p>
            <a:endParaRPr lang="ru-RU" dirty="0" smtClean="0"/>
          </a:p>
          <a:p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algn="just"/>
            <a:r>
              <a:rPr lang="ru-RU" b="1" dirty="0" smtClean="0">
                <a:solidFill>
                  <a:schemeClr val="tx1"/>
                </a:solidFill>
              </a:rPr>
              <a:t>это </a:t>
            </a:r>
            <a:r>
              <a:rPr lang="ru-RU" b="1" dirty="0">
                <a:solidFill>
                  <a:schemeClr val="tx1"/>
                </a:solidFill>
              </a:rPr>
              <a:t>не оцифровка и перенос культурных объектов в виртуальную реальность. Это феномен человеческого общества, основанный на глобальных изменениях взаимодействия, коммуникаций и технологий жизнедеятельности </a:t>
            </a:r>
            <a:r>
              <a:rPr lang="ru-RU" b="1" dirty="0" smtClean="0">
                <a:solidFill>
                  <a:schemeClr val="tx1"/>
                </a:solidFill>
              </a:rPr>
              <a:t>человека.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</a:p>
          <a:p>
            <a:pPr algn="just"/>
            <a:endParaRPr lang="ru-RU" b="1" dirty="0"/>
          </a:p>
          <a:p>
            <a:pPr marL="0" indent="0" algn="just">
              <a:buNone/>
            </a:pPr>
            <a:r>
              <a:rPr lang="ru-RU" sz="2600" b="1" dirty="0" smtClean="0"/>
              <a:t>Понятие </a:t>
            </a:r>
            <a:r>
              <a:rPr lang="ru-RU" sz="2600" b="1" dirty="0"/>
              <a:t>цифровой культуры: </a:t>
            </a:r>
            <a:endParaRPr lang="ru-RU" sz="2600" dirty="0"/>
          </a:p>
          <a:p>
            <a:pPr algn="just"/>
            <a:r>
              <a:rPr lang="ru-RU" dirty="0" smtClean="0"/>
              <a:t>идеология </a:t>
            </a:r>
            <a:r>
              <a:rPr lang="ru-RU" dirty="0"/>
              <a:t>управления и функционирования социально-экономических систем, основанная на проникновении и совместном использовании цифровых технологий: </a:t>
            </a:r>
          </a:p>
          <a:p>
            <a:pPr lvl="1" algn="just"/>
            <a:r>
              <a:rPr lang="ru-RU" dirty="0" smtClean="0"/>
              <a:t>во </a:t>
            </a:r>
            <a:r>
              <a:rPr lang="ru-RU" dirty="0"/>
              <a:t>внутрисистемных </a:t>
            </a:r>
            <a:r>
              <a:rPr lang="ru-RU" dirty="0" smtClean="0"/>
              <a:t>процессах; </a:t>
            </a:r>
            <a:endParaRPr lang="ru-RU" dirty="0"/>
          </a:p>
          <a:p>
            <a:pPr lvl="1" algn="just"/>
            <a:r>
              <a:rPr lang="ru-RU" dirty="0" smtClean="0"/>
              <a:t>во </a:t>
            </a:r>
            <a:r>
              <a:rPr lang="ru-RU" dirty="0"/>
              <a:t>взаимодействии системы с внешней </a:t>
            </a:r>
            <a:r>
              <a:rPr lang="ru-RU" dirty="0" smtClean="0"/>
              <a:t>средой; </a:t>
            </a:r>
            <a:endParaRPr lang="ru-RU" dirty="0"/>
          </a:p>
          <a:p>
            <a:pPr algn="just"/>
            <a:r>
              <a:rPr lang="ru-RU" dirty="0" smtClean="0"/>
              <a:t>включает </a:t>
            </a:r>
            <a:r>
              <a:rPr lang="ru-RU" dirty="0"/>
              <a:t>в себя нормы, правила, традиции, способы и формы коммуникации и принятия решений 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964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 smtClean="0"/>
              <a:t>Цифровая культура</a:t>
            </a:r>
            <a:endParaRPr lang="ru-RU" sz="4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1872" y="2206684"/>
            <a:ext cx="9980762" cy="3866311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  <a:p>
            <a:r>
              <a:rPr lang="ru-RU" dirty="0"/>
              <a:t> 1.Влияние на культуру медиа-среды и </a:t>
            </a:r>
            <a:r>
              <a:rPr lang="ru-RU" dirty="0" err="1"/>
              <a:t>цифровизации</a:t>
            </a:r>
            <a:r>
              <a:rPr lang="ru-RU" dirty="0"/>
              <a:t>. Цифровая культура возникла одновременно с новыми медиа технологиями (</a:t>
            </a:r>
            <a:r>
              <a:rPr lang="ru-RU" dirty="0" err="1"/>
              <a:t>Yegen</a:t>
            </a:r>
            <a:r>
              <a:rPr lang="ru-RU" dirty="0"/>
              <a:t>, </a:t>
            </a:r>
            <a:r>
              <a:rPr lang="ru-RU" dirty="0" err="1"/>
              <a:t>Ceren</a:t>
            </a:r>
            <a:r>
              <a:rPr lang="ru-RU" dirty="0"/>
              <a:t>) </a:t>
            </a:r>
          </a:p>
          <a:p>
            <a:r>
              <a:rPr lang="ru-RU" dirty="0"/>
              <a:t>2.Пост-интернет общество, объединенное посредством мобильных устройств и компьютерных сетей через время и пространство (</a:t>
            </a:r>
            <a:r>
              <a:rPr lang="ru-RU" dirty="0" err="1"/>
              <a:t>Hill</a:t>
            </a:r>
            <a:r>
              <a:rPr lang="ru-RU" dirty="0"/>
              <a:t>, </a:t>
            </a:r>
            <a:r>
              <a:rPr lang="ru-RU" dirty="0" err="1"/>
              <a:t>Valerie</a:t>
            </a:r>
            <a:r>
              <a:rPr lang="ru-RU" dirty="0"/>
              <a:t> J.) </a:t>
            </a:r>
          </a:p>
          <a:p>
            <a:r>
              <a:rPr lang="ru-RU" dirty="0"/>
              <a:t>3.Термин для описания изменяющихся отношений между способами создания и потребления культуры и как новая информационная технология влияет на эти изменяющиеся отношения (</a:t>
            </a:r>
            <a:r>
              <a:rPr lang="ru-RU" dirty="0" err="1"/>
              <a:t>Giovanelli</a:t>
            </a:r>
            <a:r>
              <a:rPr lang="ru-RU" dirty="0"/>
              <a:t>, </a:t>
            </a:r>
            <a:r>
              <a:rPr lang="ru-RU" dirty="0" err="1"/>
              <a:t>Sedef</a:t>
            </a:r>
            <a:r>
              <a:rPr lang="ru-RU" dirty="0"/>
              <a:t> </a:t>
            </a:r>
            <a:r>
              <a:rPr lang="ru-RU" dirty="0" err="1"/>
              <a:t>Erdogan</a:t>
            </a:r>
            <a:r>
              <a:rPr lang="ru-RU" dirty="0"/>
              <a:t>) </a:t>
            </a:r>
          </a:p>
          <a:p>
            <a:r>
              <a:rPr lang="ru-RU" dirty="0"/>
              <a:t>4.Новая форма культуры, которая формируется </a:t>
            </a:r>
            <a:r>
              <a:rPr lang="ru-RU" dirty="0" err="1"/>
              <a:t>цифровизацией</a:t>
            </a:r>
            <a:r>
              <a:rPr lang="ru-RU" dirty="0"/>
              <a:t>. «Цифровая» в термине отражает использование электронных систем, которые хранят, обрабатывают и передают цифровую речь, закодированную в виде цифровой последовательности (</a:t>
            </a:r>
            <a:r>
              <a:rPr lang="ru-RU" dirty="0" err="1"/>
              <a:t>Giovanelli</a:t>
            </a:r>
            <a:r>
              <a:rPr lang="ru-RU" dirty="0"/>
              <a:t>, </a:t>
            </a:r>
            <a:r>
              <a:rPr lang="ru-RU" dirty="0" err="1"/>
              <a:t>Sedef</a:t>
            </a:r>
            <a:r>
              <a:rPr lang="ru-RU" dirty="0"/>
              <a:t> </a:t>
            </a:r>
            <a:r>
              <a:rPr lang="ru-RU" dirty="0" err="1"/>
              <a:t>Erdogan</a:t>
            </a:r>
            <a:r>
              <a:rPr lang="ru-RU" dirty="0"/>
              <a:t>) </a:t>
            </a:r>
          </a:p>
          <a:p>
            <a:r>
              <a:rPr lang="ru-RU" dirty="0"/>
              <a:t>5.Ценности, соглашения, мысли в современном обществе, а также, как люди общаются внутри этого общества (</a:t>
            </a:r>
            <a:r>
              <a:rPr lang="ru-RU" dirty="0" err="1"/>
              <a:t>Ertem-Eray</a:t>
            </a:r>
            <a:r>
              <a:rPr lang="ru-RU" dirty="0"/>
              <a:t>, </a:t>
            </a:r>
            <a:r>
              <a:rPr lang="ru-RU" dirty="0" err="1"/>
              <a:t>Tugce</a:t>
            </a:r>
            <a:r>
              <a:rPr lang="ru-RU" dirty="0"/>
              <a:t>) </a:t>
            </a:r>
          </a:p>
          <a:p>
            <a:r>
              <a:rPr lang="ru-RU" dirty="0"/>
              <a:t>6.Термин для представления четкой и почти полной трансформации мира с помощью цифровых технологий. Используется в различных вопросах, от </a:t>
            </a:r>
            <a:r>
              <a:rPr lang="ru-RU" dirty="0" smtClean="0"/>
              <a:t>хакерства </a:t>
            </a:r>
            <a:r>
              <a:rPr lang="ru-RU" dirty="0"/>
              <a:t>до независимой музыки и экономики солидарности (</a:t>
            </a:r>
            <a:r>
              <a:rPr lang="ru-RU" dirty="0" err="1"/>
              <a:t>Botelho-Francisco</a:t>
            </a:r>
            <a:r>
              <a:rPr lang="ru-RU" dirty="0"/>
              <a:t>, </a:t>
            </a:r>
            <a:r>
              <a:rPr lang="ru-RU" dirty="0" err="1"/>
              <a:t>Rodrigo</a:t>
            </a:r>
            <a:r>
              <a:rPr lang="ru-RU" dirty="0"/>
              <a:t> </a:t>
            </a:r>
            <a:r>
              <a:rPr lang="ru-RU" dirty="0" err="1"/>
              <a:t>Eduardo</a:t>
            </a:r>
            <a:r>
              <a:rPr lang="ru-RU" dirty="0"/>
              <a:t>). </a:t>
            </a: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613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Цифровая культура и цифровое общество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Цифровая культура </a:t>
            </a:r>
            <a:r>
              <a:rPr lang="ru-RU" dirty="0"/>
              <a:t>– это социально-этическая система, отражающая идеологию эпохи 21 века, включающая в себя следующие основные структурные компоненты: </a:t>
            </a:r>
          </a:p>
          <a:p>
            <a:r>
              <a:rPr lang="ru-RU" dirty="0" smtClean="0"/>
              <a:t>Знания </a:t>
            </a:r>
            <a:r>
              <a:rPr lang="ru-RU" dirty="0"/>
              <a:t>(информация, </a:t>
            </a:r>
            <a:r>
              <a:rPr lang="ru-RU" dirty="0" err="1"/>
              <a:t>Big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, </a:t>
            </a:r>
            <a:r>
              <a:rPr lang="ru-RU" dirty="0" err="1"/>
              <a:t>etc</a:t>
            </a:r>
            <a:r>
              <a:rPr lang="ru-RU" dirty="0"/>
              <a:t>.) </a:t>
            </a:r>
          </a:p>
          <a:p>
            <a:r>
              <a:rPr lang="ru-RU" dirty="0" smtClean="0"/>
              <a:t>Система </a:t>
            </a:r>
            <a:r>
              <a:rPr lang="ru-RU" dirty="0"/>
              <a:t>внутренних и внешних коммуникаций, основанных на цифровых и информационных технологиях </a:t>
            </a:r>
          </a:p>
          <a:p>
            <a:r>
              <a:rPr lang="ru-RU" dirty="0" smtClean="0"/>
              <a:t>Культура </a:t>
            </a:r>
            <a:r>
              <a:rPr lang="ru-RU" dirty="0"/>
              <a:t>внутриорганизационных процессов: организация бизнес-процессов (цифровые производственные системы, производственные организационные системы </a:t>
            </a:r>
            <a:r>
              <a:rPr lang="ru-RU" dirty="0" err="1"/>
              <a:t>etc</a:t>
            </a:r>
            <a:r>
              <a:rPr lang="ru-RU" dirty="0"/>
              <a:t>. ), принятие решений. </a:t>
            </a:r>
          </a:p>
          <a:p>
            <a:r>
              <a:rPr lang="ru-RU" dirty="0" smtClean="0"/>
              <a:t>Совокупность </a:t>
            </a:r>
            <a:r>
              <a:rPr lang="ru-RU" dirty="0"/>
              <a:t>взаимосвязанных социальных, экономических, технических, научных ценностей, основанных на цифровых и информационных технологиях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697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Идеология цифрового общества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292263"/>
            <a:ext cx="10156049" cy="37275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это </a:t>
            </a:r>
            <a:r>
              <a:rPr lang="ru-RU" dirty="0"/>
              <a:t>система взглядов, идей, связанных с существованием, функционированием, развитием общества, управлением социально-экономическими системами, стратегиями развития, способами и методами достижения целей, с деловой этикой и социальной ответственностью. </a:t>
            </a:r>
          </a:p>
          <a:p>
            <a:pPr marL="0" indent="0">
              <a:buNone/>
            </a:pPr>
            <a:r>
              <a:rPr lang="ru-RU" dirty="0"/>
              <a:t>Идеология цифрового общества основана на изменении отношений и роли цифровых технологий, организации внутрисистемных процессов и характере взаимодействия систем с внешней </a:t>
            </a:r>
            <a:r>
              <a:rPr lang="ru-RU" dirty="0" smtClean="0"/>
              <a:t>средой. 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Идеология цифровой культуры: </a:t>
            </a:r>
          </a:p>
          <a:p>
            <a:r>
              <a:rPr lang="ru-RU" dirty="0" smtClean="0"/>
              <a:t>проявляется </a:t>
            </a:r>
            <a:r>
              <a:rPr lang="ru-RU" dirty="0"/>
              <a:t>в миссии и целях современного общества; </a:t>
            </a:r>
          </a:p>
          <a:p>
            <a:r>
              <a:rPr lang="ru-RU" dirty="0" smtClean="0"/>
              <a:t>оказывает </a:t>
            </a:r>
            <a:r>
              <a:rPr lang="ru-RU" dirty="0"/>
              <a:t>существенное влияние на отношение человека к обществу, организациям, государству и </a:t>
            </a:r>
            <a:r>
              <a:rPr lang="ru-RU" dirty="0" err="1"/>
              <a:t>vice</a:t>
            </a:r>
            <a:r>
              <a:rPr lang="ru-RU" dirty="0"/>
              <a:t> </a:t>
            </a:r>
            <a:r>
              <a:rPr lang="ru-RU" dirty="0" err="1" smtClean="0"/>
              <a:t>versa</a:t>
            </a:r>
            <a:r>
              <a:rPr lang="ru-RU" dirty="0" smtClean="0"/>
              <a:t>; </a:t>
            </a:r>
            <a:endParaRPr lang="ru-RU" dirty="0"/>
          </a:p>
          <a:p>
            <a:r>
              <a:rPr lang="ru-RU" dirty="0"/>
              <a:t>в</a:t>
            </a:r>
            <a:r>
              <a:rPr lang="ru-RU" dirty="0" smtClean="0"/>
              <a:t>лияет </a:t>
            </a:r>
            <a:r>
              <a:rPr lang="ru-RU" dirty="0"/>
              <a:t>на основные принципы деятельности человека, организаций, предприятий, на принятие решений. </a:t>
            </a:r>
          </a:p>
        </p:txBody>
      </p:sp>
    </p:spTree>
    <p:extLst>
      <p:ext uri="{BB962C8B-B14F-4D97-AF65-F5344CB8AC3E}">
        <p14:creationId xmlns:p14="http://schemas.microsoft.com/office/powerpoint/2010/main" val="422056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Ценности цифрового общества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268747"/>
            <a:ext cx="10326804" cy="4011283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представляют </a:t>
            </a:r>
            <a:r>
              <a:rPr lang="ru-RU" dirty="0"/>
              <a:t>собой систему отношений </a:t>
            </a:r>
            <a:r>
              <a:rPr lang="ru-RU" b="1" i="1" dirty="0"/>
              <a:t>«субъект-объект», </a:t>
            </a:r>
            <a:r>
              <a:rPr lang="ru-RU" dirty="0"/>
              <a:t>в которой субъектом является человек, а объектом – любой материально-вещественный, морально-этический, событийный и др. объект. </a:t>
            </a:r>
          </a:p>
          <a:p>
            <a:r>
              <a:rPr lang="ru-RU" dirty="0"/>
              <a:t>это значение определенных материальных предметов, действий, явлений; являются своеобразным ориентиром для человека и общества в целом в процессе их деятельности, при принятии решений и </a:t>
            </a:r>
            <a:r>
              <a:rPr lang="ru-RU" dirty="0" err="1"/>
              <a:t>т.д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Следующей важнейшей составляющей цифровой культуры являются </a:t>
            </a:r>
            <a:r>
              <a:rPr lang="ru-RU" b="1" i="1" dirty="0"/>
              <a:t>знания</a:t>
            </a:r>
            <a:r>
              <a:rPr lang="ru-RU" dirty="0"/>
              <a:t>. </a:t>
            </a:r>
          </a:p>
          <a:p>
            <a:r>
              <a:rPr lang="ru-RU" i="1" dirty="0"/>
              <a:t>В целом знания </a:t>
            </a:r>
            <a:r>
              <a:rPr lang="ru-RU" dirty="0"/>
              <a:t>представляют собой структурированную информацию, обладающую определенной ценностью. Знания включают в себя совокупность интеллектуальной собственности, творческий и инновационный потенциал социально-экономической системы. Организационные знания накапливаются в процессе эволюции системы, формируя ее информационную память и обеспечивая возможность коллективного принятия решений в условиях неопределенности и стохастической среды функционирования. </a:t>
            </a:r>
          </a:p>
        </p:txBody>
      </p:sp>
    </p:spTree>
    <p:extLst>
      <p:ext uri="{BB962C8B-B14F-4D97-AF65-F5344CB8AC3E}">
        <p14:creationId xmlns:p14="http://schemas.microsoft.com/office/powerpoint/2010/main" val="2241548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254685"/>
            <a:ext cx="8825659" cy="3765115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dirty="0" smtClean="0"/>
              <a:t>     Цифровая культура является одним из каналов </a:t>
            </a:r>
            <a:r>
              <a:rPr lang="ru-RU" b="1" i="1" dirty="0" smtClean="0"/>
              <a:t>коммуникаций</a:t>
            </a:r>
            <a:r>
              <a:rPr lang="ru-RU" dirty="0" smtClean="0"/>
              <a:t>, посредством которого члены социально-экономической системы опознают друг друга, с помощью которого осуществляется трансляция ценностей и идентификация индивида как части некого сообщества. </a:t>
            </a:r>
          </a:p>
          <a:p>
            <a:pPr algn="just"/>
            <a:r>
              <a:rPr lang="ru-RU" b="1" dirty="0" err="1" smtClean="0"/>
              <a:t>Внутрисоциальный</a:t>
            </a:r>
            <a:r>
              <a:rPr lang="ru-RU" b="1" dirty="0" smtClean="0"/>
              <a:t> коммуникации </a:t>
            </a:r>
            <a:r>
              <a:rPr lang="ru-RU" dirty="0"/>
              <a:t>– это коммуникации, посредством которого члены социально-экономической системы опознают друг друга, с помощью которого осуществляется трансляция ценностей и идентификация индивида как части некого сообщества. </a:t>
            </a:r>
          </a:p>
          <a:p>
            <a:pPr algn="just"/>
            <a:r>
              <a:rPr lang="ru-RU" b="1" dirty="0"/>
              <a:t>Внешние коммуникации </a:t>
            </a:r>
            <a:r>
              <a:rPr lang="ru-RU" dirty="0"/>
              <a:t>- это коммуникации, посредством которого осуществляется связь социальных систем, организаций и предприятий, человека, с внешней средой. При этом реализуется взаимосвязь по направлениям: </a:t>
            </a:r>
          </a:p>
          <a:p>
            <a:pPr algn="just"/>
            <a:r>
              <a:rPr lang="ru-RU" dirty="0"/>
              <a:t>«Социально-экономическая система → внешняя среда» </a:t>
            </a:r>
          </a:p>
          <a:p>
            <a:pPr algn="just"/>
            <a:r>
              <a:rPr lang="ru-RU" dirty="0"/>
              <a:t>«Внешняя среда → социально-экономическая система» 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Ценности цифрового общества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250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Производство товаров и услуг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Положительные стороны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  <a:p>
            <a:r>
              <a:rPr lang="ru-RU" dirty="0" smtClean="0"/>
              <a:t>Более </a:t>
            </a:r>
            <a:r>
              <a:rPr lang="ru-RU" dirty="0"/>
              <a:t>гибкие и адаптивные производственные процессы и структуры </a:t>
            </a:r>
          </a:p>
          <a:p>
            <a:r>
              <a:rPr lang="ru-RU" dirty="0" smtClean="0"/>
              <a:t>Оперативное </a:t>
            </a:r>
            <a:r>
              <a:rPr lang="ru-RU" dirty="0"/>
              <a:t>получение информации о производстве в режиме реального времени </a:t>
            </a:r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Отрицательные стороны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endParaRPr lang="ru-RU" dirty="0"/>
          </a:p>
          <a:p>
            <a:r>
              <a:rPr lang="ru-RU" dirty="0"/>
              <a:t>Более высокие потери при возможных сбоях </a:t>
            </a:r>
          </a:p>
          <a:p>
            <a:r>
              <a:rPr lang="ru-RU" dirty="0" smtClean="0"/>
              <a:t>Высокие </a:t>
            </a:r>
            <a:r>
              <a:rPr lang="ru-RU" dirty="0"/>
              <a:t>требования к квалификации персонала </a:t>
            </a:r>
          </a:p>
          <a:p>
            <a:r>
              <a:rPr lang="ru-RU" dirty="0" smtClean="0"/>
              <a:t>Более </a:t>
            </a:r>
            <a:r>
              <a:rPr lang="ru-RU" dirty="0"/>
              <a:t>высокая сложность организации </a:t>
            </a:r>
            <a:r>
              <a:rPr lang="ru-RU" dirty="0" smtClean="0"/>
              <a:t>процессов</a:t>
            </a:r>
            <a:endParaRPr lang="ru-RU" dirty="0"/>
          </a:p>
          <a:p>
            <a:r>
              <a:rPr lang="ru-RU" dirty="0" smtClean="0"/>
              <a:t>Более </a:t>
            </a:r>
            <a:r>
              <a:rPr lang="ru-RU" dirty="0"/>
              <a:t>высокие риски информационной безопасности </a:t>
            </a:r>
          </a:p>
        </p:txBody>
      </p:sp>
    </p:spTree>
    <p:extLst>
      <p:ext uri="{BB962C8B-B14F-4D97-AF65-F5344CB8AC3E}">
        <p14:creationId xmlns:p14="http://schemas.microsoft.com/office/powerpoint/2010/main" val="223330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Социальная сфера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Положительные стороны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  <a:p>
            <a:r>
              <a:rPr lang="ru-RU" dirty="0" smtClean="0"/>
              <a:t>Сокращение </a:t>
            </a:r>
            <a:r>
              <a:rPr lang="ru-RU" dirty="0"/>
              <a:t>сроков выполнения задач </a:t>
            </a:r>
          </a:p>
          <a:p>
            <a:r>
              <a:rPr lang="ru-RU" dirty="0" smtClean="0"/>
              <a:t>Снижение </a:t>
            </a:r>
            <a:r>
              <a:rPr lang="ru-RU" dirty="0"/>
              <a:t>затрат на НИОКР (за счет быстрого </a:t>
            </a:r>
            <a:r>
              <a:rPr lang="ru-RU" dirty="0" err="1"/>
              <a:t>прототипирования</a:t>
            </a:r>
            <a:r>
              <a:rPr lang="ru-RU" dirty="0"/>
              <a:t>) 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Отрицательные стороны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endParaRPr lang="ru-RU" dirty="0"/>
          </a:p>
          <a:p>
            <a:r>
              <a:rPr lang="ru-RU" dirty="0"/>
              <a:t>Новое социальное неравенство </a:t>
            </a:r>
          </a:p>
          <a:p>
            <a:r>
              <a:rPr lang="ru-RU" dirty="0" smtClean="0"/>
              <a:t>Сокращение </a:t>
            </a:r>
            <a:r>
              <a:rPr lang="ru-RU" dirty="0"/>
              <a:t>числа рабочих мест и ряда специальностей, «вымирание профессий» </a:t>
            </a:r>
          </a:p>
          <a:p>
            <a:r>
              <a:rPr lang="ru-RU" dirty="0" smtClean="0"/>
              <a:t>Квалификационная </a:t>
            </a:r>
            <a:r>
              <a:rPr lang="ru-RU" dirty="0"/>
              <a:t>яма (</a:t>
            </a:r>
            <a:r>
              <a:rPr lang="en-US" dirty="0"/>
              <a:t>skills mismatch) </a:t>
            </a:r>
          </a:p>
          <a:p>
            <a:r>
              <a:rPr lang="ru-RU" dirty="0" smtClean="0"/>
              <a:t>Необходимость </a:t>
            </a:r>
            <a:r>
              <a:rPr lang="ru-RU" dirty="0"/>
              <a:t>повышения квалификации для не полностью автоматизированных профессий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291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Особенности объектов цифровой культуры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0626" y="2292263"/>
            <a:ext cx="11436262" cy="438410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400" dirty="0"/>
              <a:t>1.Объекты цифровой культуры, в отличие от традиционных объектов культурного наследия (архитектура, изобразительное искусство, др. артефакты), находятся в постоянном изменении, и могут быть исследованы в динамике, как процесс. Это связано с особенностями цифровой сетевой «гипертекстовой» среды: </a:t>
            </a:r>
            <a:r>
              <a:rPr lang="ru-RU" sz="1400" dirty="0" err="1"/>
              <a:t>коллаборативность</a:t>
            </a:r>
            <a:r>
              <a:rPr lang="ru-RU" sz="1400" dirty="0"/>
              <a:t>, креативность, совместное использование продукта </a:t>
            </a:r>
          </a:p>
          <a:p>
            <a:r>
              <a:rPr lang="ru-RU" sz="1400" dirty="0"/>
              <a:t>2.Таким образом, объекты цифровой культуры не бывают полностью завершенными; доступ к информационному контенту объектов цифровой культуры – гиперссылки и социальные сети (например, совместное интернет-творчество: </a:t>
            </a:r>
            <a:r>
              <a:rPr lang="ru-RU" sz="1400" dirty="0" err="1"/>
              <a:t>фанфики</a:t>
            </a:r>
            <a:r>
              <a:rPr lang="ru-RU" sz="1400" dirty="0"/>
              <a:t>, интернет-</a:t>
            </a:r>
            <a:r>
              <a:rPr lang="ru-RU" sz="1400" dirty="0" err="1"/>
              <a:t>мемы</a:t>
            </a:r>
            <a:r>
              <a:rPr lang="ru-RU" sz="1400" dirty="0"/>
              <a:t>) </a:t>
            </a:r>
          </a:p>
          <a:p>
            <a:r>
              <a:rPr lang="ru-RU" sz="1400" dirty="0"/>
              <a:t>3. Также особенностями объектов цифровой культуры является возможность изменения пространства и времени в результате их существования в виртуальной реальности (например, создание «синтезированных» объектов посредством объединения предметов или явлений из различных исторических эпох, изменение пространственного и временного контекста, и т.п.). </a:t>
            </a:r>
          </a:p>
          <a:p>
            <a:r>
              <a:rPr lang="ru-RU" sz="1400" dirty="0"/>
              <a:t>4.Использование дополненной и виртуальной реальности в выставках, в том числе в музеях и произведений искусства, фестивалях и иных культурно-массовых мероприятиях: </a:t>
            </a:r>
          </a:p>
          <a:p>
            <a:r>
              <a:rPr lang="ru-RU" sz="1400" dirty="0"/>
              <a:t>• Получение мгновенного доступа к информационному контенту </a:t>
            </a:r>
          </a:p>
          <a:p>
            <a:r>
              <a:rPr lang="ru-RU" sz="1400" dirty="0"/>
              <a:t>• Персонализация контента (например, музыки, информации на выставках произведений искусства) </a:t>
            </a:r>
          </a:p>
          <a:p>
            <a:r>
              <a:rPr lang="ru-RU" sz="1400" dirty="0"/>
              <a:t>• Визуализация «традиционных» культурных объектов и создание интерактивной среды </a:t>
            </a:r>
          </a:p>
          <a:p>
            <a:r>
              <a:rPr lang="ru-RU" sz="1400" dirty="0" smtClean="0"/>
              <a:t>5.Цифровые </a:t>
            </a:r>
            <a:r>
              <a:rPr lang="ru-RU" sz="1400" dirty="0"/>
              <a:t>технологии позволяют создавать виртуальные вымышленные миры, формировать у человека опыт-симуляцию в дополненной или виртуальной реальности. </a:t>
            </a:r>
          </a:p>
          <a:p>
            <a:r>
              <a:rPr lang="ru-RU" sz="1400" dirty="0"/>
              <a:t>6.Объектами цифровой культуры являются и компьютерные и видео-игры, также моделирующие ситуации и создающие вымышленные автономные миры </a:t>
            </a:r>
          </a:p>
          <a:p>
            <a:r>
              <a:rPr lang="ru-RU" sz="1400" dirty="0"/>
              <a:t>7.Также человек может создать своего «двойника» в социальной сети (</a:t>
            </a:r>
            <a:r>
              <a:rPr lang="ru-RU" sz="1400" dirty="0" err="1"/>
              <a:t>аватар</a:t>
            </a:r>
            <a:r>
              <a:rPr lang="ru-RU" sz="1400" dirty="0"/>
              <a:t>), придав ему черты и характеристики по своему желанию. </a:t>
            </a:r>
          </a:p>
        </p:txBody>
      </p:sp>
    </p:spTree>
    <p:extLst>
      <p:ext uri="{BB962C8B-B14F-4D97-AF65-F5344CB8AC3E}">
        <p14:creationId xmlns:p14="http://schemas.microsoft.com/office/powerpoint/2010/main" val="47703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Глобальные трансформации: цифровая культура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Часто феномен цифровой культуры связывается с глобальной трансформацией средств массовой информации как основным средством коммуникации и предоставления информации – от вещательных и печатных, с одинаковым контентом для всех пользователей, до персонализированных и сетевых медиа, основанных на цифровых технологиях передачи и обработки информационного контента. </a:t>
            </a:r>
          </a:p>
          <a:p>
            <a:r>
              <a:rPr lang="ru-RU" dirty="0"/>
              <a:t>Цифровые технологии изменяют характер информационного материала (контента): он становится автоматизированным и основанным на цифровых базах данных. Это приводит к таким глобальным изменениям цифровой информации и цифровой среды, что часто под цифровой культурой мы понимаем культуру алгоритмических процессов (так называемая «алгоритмическая культура») – это персонализированный контент, каналы социальных сетей, рекомендательные системы и персонализированная реклама в интернете, и др. При этом цифровые базы данных гораздо более гибкие, чем нецифровые и предоставляют множество возможностей – поисковые системы, интернет-платформы, социальные сети и др. </a:t>
            </a:r>
          </a:p>
        </p:txBody>
      </p:sp>
    </p:spTree>
    <p:extLst>
      <p:ext uri="{BB962C8B-B14F-4D97-AF65-F5344CB8AC3E}">
        <p14:creationId xmlns:p14="http://schemas.microsoft.com/office/powerpoint/2010/main" val="135657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Глобальные трансформации: цифровая культура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Уровень развития цифровой культуры можно оценить только через совокупность показателей, к основным из которых можно отнести: </a:t>
            </a:r>
          </a:p>
          <a:p>
            <a:r>
              <a:rPr lang="ru-RU" dirty="0" smtClean="0"/>
              <a:t>Вовлеченность </a:t>
            </a:r>
            <a:r>
              <a:rPr lang="ru-RU" dirty="0"/>
              <a:t>человека в цифровые процессы, цифровую среду </a:t>
            </a:r>
          </a:p>
          <a:p>
            <a:r>
              <a:rPr lang="ru-RU" dirty="0" smtClean="0"/>
              <a:t>Характер </a:t>
            </a:r>
            <a:r>
              <a:rPr lang="ru-RU" dirty="0"/>
              <a:t>использования цифровых технологий </a:t>
            </a:r>
          </a:p>
          <a:p>
            <a:r>
              <a:rPr lang="ru-RU" dirty="0" smtClean="0"/>
              <a:t>Как </a:t>
            </a:r>
            <a:r>
              <a:rPr lang="ru-RU" dirty="0"/>
              <a:t>использование технологий способствует развитию и росту человека, общества, предприятия, государства </a:t>
            </a:r>
          </a:p>
          <a:p>
            <a:r>
              <a:rPr lang="ru-RU" dirty="0" err="1" smtClean="0"/>
              <a:t>Креативность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dirty="0" err="1"/>
              <a:t>инновационность</a:t>
            </a:r>
            <a:r>
              <a:rPr lang="ru-RU" dirty="0"/>
              <a:t> (развитие высокотехнологичных отраслей, рабочих мест, создание инноваций и т.п.) </a:t>
            </a:r>
          </a:p>
          <a:p>
            <a:r>
              <a:rPr lang="ru-RU" dirty="0" smtClean="0"/>
              <a:t>Рост </a:t>
            </a:r>
            <a:r>
              <a:rPr lang="ru-RU" dirty="0"/>
              <a:t>производительности труда – внедрение высокопроизводительного оборудования и технологий в производственные и рабочие процессы </a:t>
            </a:r>
          </a:p>
          <a:p>
            <a:r>
              <a:rPr lang="ru-RU" dirty="0" smtClean="0"/>
              <a:t>Доступность </a:t>
            </a:r>
            <a:r>
              <a:rPr lang="ru-RU" dirty="0"/>
              <a:t>технологий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944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Цифровая культура и инновации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Традиционно под инновациями понимается техника, технология. </a:t>
            </a:r>
            <a:endParaRPr lang="en-US" dirty="0" smtClean="0"/>
          </a:p>
          <a:p>
            <a:r>
              <a:rPr lang="ru-RU" dirty="0"/>
              <a:t>Инновации – это не конечный результат и не застывшая статичная категория. Инновации постоянно находятся в изменении, динамике. При этом любая инновация проходит стадии трансформации от идеи до готового продукта, от идеи до рынка (потребителя). </a:t>
            </a:r>
            <a:endParaRPr lang="en-US" dirty="0" smtClean="0"/>
          </a:p>
          <a:p>
            <a:r>
              <a:rPr lang="ru-RU" dirty="0"/>
              <a:t>Инновация – это динамика, движение, процесс, связанные с экспериментами, обсуждениями, исследованиями, поиском и т.п. </a:t>
            </a:r>
          </a:p>
        </p:txBody>
      </p:sp>
    </p:spTree>
    <p:extLst>
      <p:ext uri="{BB962C8B-B14F-4D97-AF65-F5344CB8AC3E}">
        <p14:creationId xmlns:p14="http://schemas.microsoft.com/office/powerpoint/2010/main" val="28807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Инновации: </a:t>
            </a:r>
            <a:r>
              <a:rPr lang="ru-RU" i="1" dirty="0"/>
              <a:t>креативность и </a:t>
            </a:r>
            <a:r>
              <a:rPr lang="ru-RU" i="1" dirty="0" err="1"/>
              <a:t>коллаборация</a:t>
            </a:r>
            <a:r>
              <a:rPr lang="ru-RU" dirty="0"/>
              <a:t>.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279737"/>
            <a:ext cx="9792794" cy="4083485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dirty="0"/>
              <a:t>Как цифровые технологии способствуют креативности? </a:t>
            </a:r>
          </a:p>
          <a:p>
            <a:r>
              <a:rPr lang="ru-RU" dirty="0" smtClean="0"/>
              <a:t>Визуализация </a:t>
            </a:r>
            <a:r>
              <a:rPr lang="ru-RU" dirty="0"/>
              <a:t>идей, данных, проектов, чертежей и т.п. </a:t>
            </a:r>
          </a:p>
          <a:p>
            <a:r>
              <a:rPr lang="ru-RU" dirty="0" smtClean="0"/>
              <a:t>Использование </a:t>
            </a:r>
            <a:r>
              <a:rPr lang="ru-RU" dirty="0"/>
              <a:t>цифровых технологий и девайсов в процессе генерирования идей, например, вы можете создать в виртуальном пространстве самое фантастическое устройство, посмотреть, как оно работает и протестировать его при помощи виртуальной реальности. </a:t>
            </a:r>
          </a:p>
          <a:p>
            <a:r>
              <a:rPr lang="ru-RU" dirty="0" smtClean="0"/>
              <a:t>3D </a:t>
            </a:r>
            <a:r>
              <a:rPr lang="ru-RU" dirty="0"/>
              <a:t>дизайн, 3D моделирование и </a:t>
            </a:r>
            <a:r>
              <a:rPr lang="ru-RU" dirty="0" err="1"/>
              <a:t>прототипирование</a:t>
            </a:r>
            <a:r>
              <a:rPr lang="ru-RU" dirty="0"/>
              <a:t>. 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При этом цифровые технологии позволяют изобретателям, исследователям, инженерам и др. эффективно взаимодействовать в процессе создания инноваций, обеспечивая </a:t>
            </a:r>
            <a:r>
              <a:rPr lang="ru-RU" dirty="0" err="1"/>
              <a:t>коллаборацию</a:t>
            </a:r>
            <a:r>
              <a:rPr lang="ru-RU" dirty="0"/>
              <a:t>: </a:t>
            </a:r>
          </a:p>
          <a:p>
            <a:r>
              <a:rPr lang="ru-RU" dirty="0" smtClean="0"/>
              <a:t>цифровые </a:t>
            </a:r>
            <a:r>
              <a:rPr lang="ru-RU" dirty="0"/>
              <a:t>социальные сети, </a:t>
            </a:r>
          </a:p>
          <a:p>
            <a:r>
              <a:rPr lang="ru-RU" dirty="0" smtClean="0"/>
              <a:t>обмен </a:t>
            </a:r>
            <a:r>
              <a:rPr lang="ru-RU" dirty="0"/>
              <a:t>данными и информацией, </a:t>
            </a:r>
          </a:p>
          <a:p>
            <a:r>
              <a:rPr lang="ru-RU" dirty="0" smtClean="0"/>
              <a:t>работа </a:t>
            </a:r>
            <a:r>
              <a:rPr lang="ru-RU" dirty="0"/>
              <a:t>онлайн, </a:t>
            </a:r>
          </a:p>
          <a:p>
            <a:r>
              <a:rPr lang="ru-RU" dirty="0" smtClean="0"/>
              <a:t>совместное </a:t>
            </a:r>
            <a:r>
              <a:rPr lang="ru-RU" dirty="0"/>
              <a:t>выполнение проектов вне зависимости от физического местонахождения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957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Феномен цифровой культуры и </a:t>
            </a:r>
            <a:r>
              <a:rPr lang="ru-RU" b="1" dirty="0" err="1"/>
              <a:t>цифровизация</a:t>
            </a:r>
            <a:r>
              <a:rPr lang="ru-RU" b="1" dirty="0"/>
              <a:t> реальности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Если мы рассмотрим процесс в совокупности и комплексности всех элементов, то необходимо сделать цифровыми следующие компоненты: </a:t>
            </a:r>
          </a:p>
          <a:p>
            <a:r>
              <a:rPr lang="ru-RU" dirty="0" smtClean="0"/>
              <a:t>Творческая </a:t>
            </a:r>
            <a:r>
              <a:rPr lang="ru-RU" dirty="0"/>
              <a:t>культура </a:t>
            </a:r>
          </a:p>
          <a:p>
            <a:r>
              <a:rPr lang="ru-RU" dirty="0" smtClean="0"/>
              <a:t>Предпринимательская </a:t>
            </a:r>
            <a:r>
              <a:rPr lang="ru-RU" dirty="0"/>
              <a:t>культура </a:t>
            </a:r>
          </a:p>
          <a:p>
            <a:r>
              <a:rPr lang="ru-RU" dirty="0" smtClean="0"/>
              <a:t>Цифровой </a:t>
            </a:r>
            <a:r>
              <a:rPr lang="ru-RU" dirty="0"/>
              <a:t>маркетинг (</a:t>
            </a:r>
            <a:r>
              <a:rPr lang="en-US" dirty="0"/>
              <a:t>Digital Marketing Skills) </a:t>
            </a:r>
          </a:p>
          <a:p>
            <a:r>
              <a:rPr lang="ru-RU" dirty="0" err="1" smtClean="0"/>
              <a:t>New</a:t>
            </a:r>
            <a:r>
              <a:rPr lang="ru-RU" dirty="0" smtClean="0"/>
              <a:t> </a:t>
            </a:r>
            <a:r>
              <a:rPr lang="ru-RU" dirty="0" err="1"/>
              <a:t>media</a:t>
            </a:r>
            <a:r>
              <a:rPr lang="ru-RU" dirty="0"/>
              <a:t>, виртуальная и дополненная реальность как неотъемлемая часть повседневной жизни и работы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169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Феномен цифровой культуры и </a:t>
            </a:r>
            <a:r>
              <a:rPr lang="ru-RU" b="1" dirty="0" err="1" smtClean="0"/>
              <a:t>цифровизация</a:t>
            </a:r>
            <a:r>
              <a:rPr lang="ru-RU" b="1" dirty="0" smtClean="0"/>
              <a:t> реальности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sz="3200" dirty="0" smtClean="0"/>
              <a:t>Новые науки: </a:t>
            </a:r>
            <a:endParaRPr lang="ru-RU" sz="3200" dirty="0"/>
          </a:p>
          <a:p>
            <a:r>
              <a:rPr lang="ru-RU" sz="3200" dirty="0" smtClean="0"/>
              <a:t>Цифровая </a:t>
            </a:r>
            <a:r>
              <a:rPr lang="ru-RU" sz="3200" dirty="0"/>
              <a:t>семиотика </a:t>
            </a:r>
          </a:p>
          <a:p>
            <a:r>
              <a:rPr lang="ru-RU" sz="3200" dirty="0" smtClean="0"/>
              <a:t>Цифровая </a:t>
            </a:r>
            <a:r>
              <a:rPr lang="ru-RU" sz="3200" dirty="0"/>
              <a:t>герменевтика </a:t>
            </a:r>
          </a:p>
          <a:p>
            <a:pPr lvl="0">
              <a:buClr>
                <a:srgbClr val="B31166"/>
              </a:buClr>
            </a:pP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Цифровая этнография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055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Цифровая семиотика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 Компьютерная визуализация текстов </a:t>
            </a:r>
          </a:p>
          <a:p>
            <a:r>
              <a:rPr lang="ru-RU" dirty="0" smtClean="0"/>
              <a:t>Проблемы интерпретации визуальных текстов, порождаемых системами визуализации </a:t>
            </a:r>
          </a:p>
          <a:p>
            <a:r>
              <a:rPr lang="ru-RU" dirty="0" smtClean="0"/>
              <a:t>Компьютерное моделирование , проектирование и использование визуальных систем </a:t>
            </a:r>
          </a:p>
          <a:p>
            <a:r>
              <a:rPr lang="ru-RU" dirty="0" smtClean="0"/>
              <a:t>Какой смысл и значение имеют символы на экране компьютера, как они воздействуют на человека и его сознание </a:t>
            </a:r>
          </a:p>
          <a:p>
            <a:r>
              <a:rPr lang="ru-RU" dirty="0" smtClean="0"/>
              <a:t>Как человек использует компьютерные языки, как визуализируют технологические процессы для написания ПО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091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Цифровая герменевтика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603500"/>
            <a:ext cx="9930580" cy="3416300"/>
          </a:xfrm>
        </p:spPr>
        <p:txBody>
          <a:bodyPr>
            <a:normAutofit/>
          </a:bodyPr>
          <a:lstStyle/>
          <a:p>
            <a:pPr algn="just"/>
            <a:r>
              <a:rPr lang="ru-RU" sz="2000" b="1" dirty="0"/>
              <a:t>Цифровая герменевтика </a:t>
            </a:r>
            <a:r>
              <a:rPr lang="ru-RU" sz="2000" dirty="0"/>
              <a:t>– это анализ и интерпретация текста в контекстуальном погружении в культурную среду, исследование </a:t>
            </a:r>
            <a:r>
              <a:rPr lang="ru-RU" sz="2000" dirty="0" err="1"/>
              <a:t>кибертекстов</a:t>
            </a:r>
            <a:r>
              <a:rPr lang="ru-RU" sz="2000" dirty="0"/>
              <a:t>. Особую актуальность приобретает в контексте цифровых медиа и цифрового контента в интернете. </a:t>
            </a:r>
          </a:p>
          <a:p>
            <a:pPr algn="just"/>
            <a:r>
              <a:rPr lang="ru-RU" sz="2000" dirty="0"/>
              <a:t>Цифровая герменевтика исследует проблемы подлинности, правдивости, реальности информации и данных, получаемых из различных источников. </a:t>
            </a:r>
          </a:p>
        </p:txBody>
      </p:sp>
    </p:spTree>
    <p:extLst>
      <p:ext uri="{BB962C8B-B14F-4D97-AF65-F5344CB8AC3E}">
        <p14:creationId xmlns:p14="http://schemas.microsoft.com/office/powerpoint/2010/main" val="282693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Цифровая этнография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603500"/>
            <a:ext cx="10080893" cy="3416300"/>
          </a:xfrm>
        </p:spPr>
        <p:txBody>
          <a:bodyPr>
            <a:normAutofit/>
          </a:bodyPr>
          <a:lstStyle/>
          <a:p>
            <a:pPr algn="just"/>
            <a:r>
              <a:rPr lang="ru-RU" sz="2000" b="1" dirty="0"/>
              <a:t>Цифровая этнография </a:t>
            </a:r>
            <a:r>
              <a:rPr lang="ru-RU" sz="2000" dirty="0"/>
              <a:t>изучает различные типы данных и сред цифровой коммуникации (сайты социальных сетей, блоги, форумы, игровые среды, веб-сайты, сайты знакомств, </a:t>
            </a:r>
            <a:r>
              <a:rPr lang="ru-RU" sz="2000" dirty="0" err="1"/>
              <a:t>википедия</a:t>
            </a:r>
            <a:r>
              <a:rPr lang="ru-RU" sz="2000" dirty="0"/>
              <a:t> и т.д.). </a:t>
            </a:r>
          </a:p>
          <a:p>
            <a:pPr algn="just"/>
            <a:r>
              <a:rPr lang="ru-RU" sz="2000" dirty="0"/>
              <a:t>Предметом исследования цифровой этнографии являются коммуникативные практики людей в онлайн-коммуникациях; способы создания семиотических материалов, циркулирующих в глобальной среде; новые цифровые сообщества (</a:t>
            </a:r>
            <a:r>
              <a:rPr lang="ru-RU" sz="2000" dirty="0" err="1"/>
              <a:t>Digital</a:t>
            </a:r>
            <a:r>
              <a:rPr lang="ru-RU" sz="2000" dirty="0"/>
              <a:t> </a:t>
            </a:r>
            <a:r>
              <a:rPr lang="ru-RU" sz="2000" dirty="0" err="1"/>
              <a:t>Tribe</a:t>
            </a:r>
            <a:r>
              <a:rPr lang="ru-RU" sz="2000" dirty="0"/>
              <a:t>)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647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Умные технологии как аспект цифровой культуры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3879" y="2603500"/>
            <a:ext cx="10409129" cy="34163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b="1" dirty="0"/>
              <a:t>Умные технологии </a:t>
            </a:r>
            <a:r>
              <a:rPr lang="ru-RU" sz="2400" dirty="0"/>
              <a:t>– это собирательное название для современных высоких технологий, в основе функционирования которых лежат технологии Интернета вещей, машинного обучения, больших данных; отличительными характеристиками которых является высокая степень самоорганизации, самообучения, большое количество обратных связей, как положительных, способствующих развитию и </a:t>
            </a:r>
            <a:r>
              <a:rPr lang="ru-RU" sz="2400" dirty="0" err="1"/>
              <a:t>эволюционированию</a:t>
            </a:r>
            <a:r>
              <a:rPr lang="ru-RU" sz="2400" dirty="0"/>
              <a:t> систем, так и отрицательных, обеспечивающих нормальное функционирование и жизнедеятельность систем. </a:t>
            </a:r>
          </a:p>
        </p:txBody>
      </p:sp>
    </p:spTree>
    <p:extLst>
      <p:ext uri="{BB962C8B-B14F-4D97-AF65-F5344CB8AC3E}">
        <p14:creationId xmlns:p14="http://schemas.microsoft.com/office/powerpoint/2010/main" val="53185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Умный дом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204580"/>
            <a:ext cx="9780268" cy="381521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5600" b="1" dirty="0"/>
              <a:t>Умные дома – </a:t>
            </a:r>
            <a:r>
              <a:rPr lang="ru-RU" sz="5600" dirty="0"/>
              <a:t>это совокупность технологии интегрированных систем управления зданием: </a:t>
            </a:r>
          </a:p>
          <a:p>
            <a:r>
              <a:rPr lang="ru-RU" sz="5600" dirty="0" smtClean="0"/>
              <a:t>Системы </a:t>
            </a:r>
            <a:r>
              <a:rPr lang="ru-RU" sz="5600" dirty="0"/>
              <a:t>управления зданием; </a:t>
            </a:r>
          </a:p>
          <a:p>
            <a:r>
              <a:rPr lang="ru-RU" sz="5600" dirty="0" smtClean="0"/>
              <a:t>Системы </a:t>
            </a:r>
            <a:r>
              <a:rPr lang="ru-RU" sz="5600" dirty="0"/>
              <a:t>коммуникаций; </a:t>
            </a:r>
          </a:p>
          <a:p>
            <a:r>
              <a:rPr lang="ru-RU" sz="5600" dirty="0" smtClean="0"/>
              <a:t>Система </a:t>
            </a:r>
            <a:r>
              <a:rPr lang="ru-RU" sz="5600" dirty="0"/>
              <a:t>отопления и кондиционирования; </a:t>
            </a:r>
          </a:p>
          <a:p>
            <a:r>
              <a:rPr lang="ru-RU" sz="5600" dirty="0" smtClean="0"/>
              <a:t>Система </a:t>
            </a:r>
            <a:r>
              <a:rPr lang="ru-RU" sz="5600" dirty="0"/>
              <a:t>освещения; </a:t>
            </a:r>
          </a:p>
          <a:p>
            <a:r>
              <a:rPr lang="ru-RU" sz="5600" dirty="0" smtClean="0"/>
              <a:t>Система </a:t>
            </a:r>
            <a:r>
              <a:rPr lang="ru-RU" sz="5600" dirty="0"/>
              <a:t>электропитания; </a:t>
            </a:r>
          </a:p>
          <a:p>
            <a:r>
              <a:rPr lang="ru-RU" sz="5600" dirty="0" smtClean="0"/>
              <a:t>Система </a:t>
            </a:r>
            <a:r>
              <a:rPr lang="ru-RU" sz="5600" dirty="0"/>
              <a:t>безопасности. </a:t>
            </a:r>
          </a:p>
        </p:txBody>
      </p:sp>
    </p:spTree>
    <p:extLst>
      <p:ext uri="{BB962C8B-B14F-4D97-AF65-F5344CB8AC3E}">
        <p14:creationId xmlns:p14="http://schemas.microsoft.com/office/powerpoint/2010/main" val="281277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Умный дом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54954" y="2379945"/>
            <a:ext cx="9893002" cy="3639855"/>
          </a:xfrm>
        </p:spPr>
        <p:txBody>
          <a:bodyPr>
            <a:normAutofit fontScale="92500" lnSpcReduction="10000"/>
          </a:bodyPr>
          <a:lstStyle/>
          <a:p>
            <a:endParaRPr lang="ru-RU" dirty="0" smtClean="0"/>
          </a:p>
          <a:p>
            <a:pPr>
              <a:buNone/>
            </a:pPr>
            <a:r>
              <a:rPr lang="ru-RU" sz="2200" dirty="0" smtClean="0"/>
              <a:t>Технологии умных домов включают в себя: </a:t>
            </a:r>
          </a:p>
          <a:p>
            <a:r>
              <a:rPr lang="ru-RU" dirty="0" smtClean="0"/>
              <a:t>Единое, удаленное управление </a:t>
            </a:r>
            <a:r>
              <a:rPr lang="ru-RU" dirty="0" err="1" smtClean="0"/>
              <a:t>медиа</a:t>
            </a:r>
            <a:r>
              <a:rPr lang="ru-RU" dirty="0" smtClean="0"/>
              <a:t>, интеллектуальная бытовая техника, управление системой доступа в здание; </a:t>
            </a:r>
          </a:p>
          <a:p>
            <a:r>
              <a:rPr lang="ru-RU" dirty="0" smtClean="0"/>
              <a:t>Автоматизация связи и коммуникаций, в том числе между электронными приборами; </a:t>
            </a:r>
          </a:p>
          <a:p>
            <a:r>
              <a:rPr lang="ru-RU" dirty="0" smtClean="0"/>
              <a:t>Автоматизация вентиляции (работы окон), работы кондиционеров; </a:t>
            </a:r>
          </a:p>
          <a:p>
            <a:r>
              <a:rPr lang="ru-RU" dirty="0" smtClean="0"/>
              <a:t>Автоматизация включения/отключения освещения, розеток, датчики движения; </a:t>
            </a:r>
          </a:p>
          <a:p>
            <a:r>
              <a:rPr lang="ru-RU" dirty="0" smtClean="0"/>
              <a:t>Автоматические системы электропитания, в том числе переключения на альтернативные источники; </a:t>
            </a:r>
          </a:p>
          <a:p>
            <a:r>
              <a:rPr lang="ru-RU" dirty="0" smtClean="0"/>
              <a:t>Видеонаблюдение, эффект присутствия, мониторинг. 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err="1" smtClean="0"/>
              <a:t>Smart</a:t>
            </a:r>
            <a:r>
              <a:rPr lang="ru-RU" sz="4000" b="1" dirty="0" smtClean="0"/>
              <a:t> </a:t>
            </a:r>
            <a:r>
              <a:rPr lang="ru-RU" sz="4000" b="1" dirty="0" err="1" smtClean="0"/>
              <a:t>City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 smtClean="0"/>
              <a:t>Умные города  </a:t>
            </a:r>
            <a:r>
              <a:rPr lang="ru-RU" sz="2400" dirty="0" smtClean="0"/>
              <a:t>– система управления городской инфраструктурой, основанной на использовании Интернета вещей, датчиков для сбора и обработки данных с целью эффективного управления ресурсами и активами.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741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err="1" smtClean="0"/>
              <a:t>Smart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City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304789"/>
            <a:ext cx="10193627" cy="4108537"/>
          </a:xfrm>
        </p:spPr>
        <p:txBody>
          <a:bodyPr>
            <a:noAutofit/>
          </a:bodyPr>
          <a:lstStyle/>
          <a:p>
            <a:r>
              <a:rPr lang="ru-RU" sz="2000" dirty="0"/>
              <a:t>Интеллектуальный транспорт – интеллектуальные транспортные системы, умные парковки, </a:t>
            </a:r>
            <a:r>
              <a:rPr lang="ru-RU" sz="2000" dirty="0" err="1"/>
              <a:t>экологичность</a:t>
            </a:r>
            <a:r>
              <a:rPr lang="ru-RU" sz="2000" dirty="0"/>
              <a:t> </a:t>
            </a:r>
          </a:p>
          <a:p>
            <a:r>
              <a:rPr lang="ru-RU" sz="2000" dirty="0"/>
              <a:t>Творчество: инициативы в области искусства и культуры являются общими направлениями в умном городском планировании. И</a:t>
            </a:r>
            <a:r>
              <a:rPr lang="ru-RU" sz="2000" dirty="0" smtClean="0"/>
              <a:t>нновации </a:t>
            </a:r>
            <a:r>
              <a:rPr lang="ru-RU" sz="2000" dirty="0"/>
              <a:t>связаны с интеллектуальным любопытством и творчеством, и различные проекты продемонстрировали, что работники умственного труда участвуют в разнообразном сочетании культурной и художественной деятельности </a:t>
            </a:r>
          </a:p>
          <a:p>
            <a:r>
              <a:rPr lang="ru-RU" sz="2000" dirty="0"/>
              <a:t>Обучение: поскольку мобильность является ключевой областью развития "Умного города", необходимо создавать квалифицированную рабочую силу с помощью образовательных инициатив. </a:t>
            </a:r>
            <a:r>
              <a:rPr lang="ru-RU" sz="2000" dirty="0" smtClean="0"/>
              <a:t>Образовательный </a:t>
            </a:r>
            <a:r>
              <a:rPr lang="ru-RU" sz="2000" dirty="0"/>
              <a:t>потенциал города включает его систему образования, включая доступную подготовку и поддержку рабочей силы, а также его культурное развитие и обмен </a:t>
            </a:r>
          </a:p>
        </p:txBody>
      </p:sp>
    </p:spTree>
    <p:extLst>
      <p:ext uri="{BB962C8B-B14F-4D97-AF65-F5344CB8AC3E}">
        <p14:creationId xmlns:p14="http://schemas.microsoft.com/office/powerpoint/2010/main" val="36741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Smart</a:t>
            </a:r>
            <a:r>
              <a:rPr lang="ru-RU" b="1" dirty="0" smtClean="0"/>
              <a:t> </a:t>
            </a:r>
            <a:r>
              <a:rPr lang="ru-RU" b="1" dirty="0" err="1" smtClean="0"/>
              <a:t>City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54954" y="2342367"/>
            <a:ext cx="9867950" cy="4058433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Ф</a:t>
            </a:r>
            <a:r>
              <a:rPr lang="ru-RU" dirty="0" smtClean="0"/>
              <a:t>изические компоненты ИТ-систем имеют решающее значение для развития интеллектуального города на ранней стадии. Проводная инфраструктура необходима для поддержки </a:t>
            </a:r>
            <a:r>
              <a:rPr lang="ru-RU" dirty="0" err="1" smtClean="0"/>
              <a:t>IoT</a:t>
            </a:r>
            <a:r>
              <a:rPr lang="ru-RU" dirty="0" smtClean="0"/>
              <a:t> и беспроводных технологий, центральных для более взаимосвязанной жизни. Проводная городская среда обеспечивает общий доступ к постоянно обновляемой цифровой и физической инфраструктуре. Новейшие телекоммуникации, робототехника, </a:t>
            </a:r>
            <a:r>
              <a:rPr lang="ru-RU" dirty="0" err="1" smtClean="0"/>
              <a:t>IoT</a:t>
            </a:r>
            <a:r>
              <a:rPr lang="ru-RU" dirty="0" smtClean="0"/>
              <a:t> и различные связанные технологии могут быть развернуты для поддержки человеческого капитала и производительности </a:t>
            </a:r>
          </a:p>
          <a:p>
            <a:r>
              <a:rPr lang="ru-RU" dirty="0" smtClean="0"/>
              <a:t>Гибридные пространства: </a:t>
            </a:r>
            <a:r>
              <a:rPr lang="ru-RU" smtClean="0"/>
              <a:t>гибридный город - это </a:t>
            </a:r>
            <a:r>
              <a:rPr lang="ru-RU" dirty="0" smtClean="0"/>
              <a:t>сочетание физической агломерации и виртуального города, связанного с физическим пространством. Эта связь может быть связана с виртуальным дизайном или наличием критической массы участников виртуального сообщества в физическом городском пространстве. Гибридные пространства могут служить для реализации проектов будущего состояния для интеллектуальных городских служб и интеграции </a:t>
            </a:r>
          </a:p>
          <a:p>
            <a:r>
              <a:rPr lang="ru-RU" dirty="0" smtClean="0"/>
              <a:t>Информационный город: множество интерактивных устройств в Умном городе генерирует большое количество данных. То, как эта информация интерпретируется и хранится, имеет решающее значение для роста и безопасности умного города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 (конференц-зал)">
  <a:themeElements>
    <a:clrScheme name="Ион (конференц-зал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Ион (конференц-зал)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 (конференц-зал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267</TotalTime>
  <Words>2100</Words>
  <Application>Microsoft Office PowerPoint</Application>
  <PresentationFormat>Широкоэкранный</PresentationFormat>
  <Paragraphs>156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Century Gothic</vt:lpstr>
      <vt:lpstr>Wingdings 3</vt:lpstr>
      <vt:lpstr>Ион (конференц-зал)</vt:lpstr>
      <vt:lpstr>Введение в цифровую культуру</vt:lpstr>
      <vt:lpstr>Презентация PowerPoint</vt:lpstr>
      <vt:lpstr>Цифровая культура</vt:lpstr>
      <vt:lpstr>Цифровая культура и цифровое общество</vt:lpstr>
      <vt:lpstr>Идеология цифрового общества</vt:lpstr>
      <vt:lpstr>Ценности цифрового общества</vt:lpstr>
      <vt:lpstr>Ценности цифрового общества</vt:lpstr>
      <vt:lpstr>Производство товаров и услуг</vt:lpstr>
      <vt:lpstr>Социальная сфера</vt:lpstr>
      <vt:lpstr>Особенности объектов цифровой культуры</vt:lpstr>
      <vt:lpstr>Глобальные трансформации: цифровая культура </vt:lpstr>
      <vt:lpstr>Глобальные трансформации: цифровая культура </vt:lpstr>
      <vt:lpstr>Цифровая культура и инновации </vt:lpstr>
      <vt:lpstr>Инновации: креативность и коллаборация. </vt:lpstr>
      <vt:lpstr>Феномен цифровой культуры и цифровизация реальности </vt:lpstr>
      <vt:lpstr>Феномен цифровой культуры и цифровизация реальности </vt:lpstr>
      <vt:lpstr>Цифровая семиотика</vt:lpstr>
      <vt:lpstr>Цифровая герменевтика</vt:lpstr>
      <vt:lpstr>Цифровая этнография</vt:lpstr>
      <vt:lpstr>Умные технологии как аспект цифровой культуры </vt:lpstr>
      <vt:lpstr>Умный дом</vt:lpstr>
      <vt:lpstr>Умный дом</vt:lpstr>
      <vt:lpstr>Smart City</vt:lpstr>
      <vt:lpstr>Smart City</vt:lpstr>
      <vt:lpstr>Smart City</vt:lpstr>
    </vt:vector>
  </TitlesOfParts>
  <Company>TIU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цифровую культуру</dc:title>
  <dc:creator>Карнаухова Инна Владимировна</dc:creator>
  <cp:lastModifiedBy>Карнаухова Инна Владимировна</cp:lastModifiedBy>
  <cp:revision>19</cp:revision>
  <dcterms:created xsi:type="dcterms:W3CDTF">2023-09-14T05:38:26Z</dcterms:created>
  <dcterms:modified xsi:type="dcterms:W3CDTF">2025-09-08T07:20:24Z</dcterms:modified>
</cp:coreProperties>
</file>